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b057bc-8aa1-c2fa-e12c-c3cf9df55fe3}">
          <p14:sldIdLst>
            <p14:sldId id="256"/>
          </p14:sldIdLst>
        </p14:section>
        <p14:section name="Answer" id="{b07b89f7-7f16-c1d4-ae5f-9523674a7590}">
          <p14:sldIdLst>
            <p14:sldId id="257"/>
          </p14:sldIdLst>
        </p14:section>
        <p14:section name="Approach" id="{f31bed65-7056-2835-3479-ef89a29cc7fb}">
          <p14:sldIdLst>
            <p14:sldId id="258"/>
          </p14:sldIdLst>
        </p14:section>
        <p14:section name="Findings" id="{0b9cee93-508d-e115-d831-c343c3d6e9f7}">
          <p14:sldIdLst>
            <p14:sldId id="259"/>
            <p14:sldId id="260"/>
            <p14:sldId id="261"/>
          </p14:sldIdLst>
        </p14:section>
        <p14:section name="Fixes" id="{b95c5c4a-1898-d92f-5d08-b6f6615cfa72}">
          <p14:sldIdLst>
            <p14:sldId id="262"/>
          </p14:sldIdLst>
        </p14:section>
        <p14:section name="Business view" id="{e2f6401a-4669-b935-249c-4b7bc31adc1f}">
          <p14:sldIdLst>
            <p14:sldId id="263"/>
            <p14:sldId id="264"/>
          </p14:sldIdLst>
        </p14:section>
        <p14:section name="Next steps" id="{046b1889-8982-f2a1-8625-66612c262b6c}">
          <p14:sldIdLst>
            <p14:sldId id="265"/>
          </p14:sldIdLst>
        </p14:section>
        <p14:section name="Close" id="{f4c74d2c-b89a-6601-3e73-d2d39b0ebd0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Net sales €1,503K</c:v>
                </c:pt>
              </c:strCache>
            </c:strRef>
          </c:tx>
          <c:spPr>
            <a:solidFill>
              <a:srgbClr val="2E8B6F"/>
            </a:solidFill>
            <a:effectLst/>
          </c:spPr>
          <c:invertIfNegative val="0"/>
          <c:dLbls>
            <c:numFmt formatCode="#,##0" sourceLinked="0"/>
            <c:txPr>
              <a:bodyPr/>
              <a:lstStyle/>
              <a:p>
                <a:pPr>
                  <a:defRPr b="1" i="0" strike="noStrike" sz="1200" u="none">
                    <a:solidFill>
                      <a:srgbClr val="1B2A30"/>
                    </a:solidFill>
                    <a:latin typeface="+mn-lt"/>
                  </a:defRPr>
                </a:pPr>
              </a:p>
            </c:txPr>
            <c:showLegendKey val="0"/>
            <c:showVal val="0"/>
            <c:showCatName val="0"/>
            <c:showSerName val="0"/>
            <c:showPercent val="0"/>
            <c:showBubbleSize val="0"/>
            <c:showLeaderLines val="0"/>
          </c:dLbls>
          <c:cat>
            <c:multiLvlStrRef>
              <c:f>Sheet1!$A$2:$A$2</c:f>
              <c:multiLvlStrCache>
                <c:ptCount val="1"/>
                <c:lvl>
                  <c:pt idx="0">
                    <c:v>total_amount</c:v>
                  </c:pt>
                </c:lvl>
              </c:multiLvlStrCache>
            </c:multiLvlStrRef>
          </c:cat>
          <c:val>
            <c:numRef>
              <c:f>Sheet1!$B$2:$B$2</c:f>
              <c:numCache>
                <c:formatCode>General</c:formatCode>
                <c:ptCount val="1"/>
                <c:pt idx="0">
                  <c:v>1503452</c:v>
                </c:pt>
              </c:numCache>
            </c:numRef>
          </c:val>
        </c:ser>
        <c:ser>
          <c:idx val="1"/>
          <c:order val="1"/>
          <c:tx>
            <c:strRef>
              <c:f>Sheet1!$C$1</c:f>
              <c:strCache>
                <c:ptCount val="1"/>
                <c:pt idx="0">
                  <c:v>Tax €303K</c:v>
                </c:pt>
              </c:strCache>
            </c:strRef>
          </c:tx>
          <c:spPr>
            <a:solidFill>
              <a:srgbClr val="D94F3A"/>
            </a:solidFill>
            <a:effectLst/>
          </c:spPr>
          <c:invertIfNegative val="0"/>
          <c:dLbls>
            <c:numFmt formatCode="#,##0" sourceLinked="0"/>
            <c:txPr>
              <a:bodyPr/>
              <a:lstStyle/>
              <a:p>
                <a:pPr>
                  <a:defRPr b="1" i="0" strike="noStrike" sz="1200" u="none">
                    <a:solidFill>
                      <a:srgbClr val="1B2A30"/>
                    </a:solidFill>
                    <a:latin typeface="+mn-lt"/>
                  </a:defRPr>
                </a:pPr>
              </a:p>
            </c:txPr>
            <c:showLegendKey val="0"/>
            <c:showVal val="0"/>
            <c:showCatName val="0"/>
            <c:showSerName val="0"/>
            <c:showPercent val="0"/>
            <c:showBubbleSize val="0"/>
            <c:showLeaderLines val="0"/>
          </c:dLbls>
          <c:cat>
            <c:multiLvlStrRef>
              <c:f>Sheet1!$A$2:$A$2</c:f>
              <c:multiLvlStrCache>
                <c:ptCount val="1"/>
                <c:lvl>
                  <c:pt idx="0">
                    <c:v>total_amount</c:v>
                  </c:pt>
                </c:lvl>
              </c:multiLvlStrCache>
            </c:multiLvlStrRef>
          </c:cat>
          <c:val>
            <c:numRef>
              <c:f>Sheet1!$C$2:$C$2</c:f>
              <c:numCache>
                <c:formatCode>General</c:formatCode>
                <c:ptCount val="1"/>
                <c:pt idx="0">
                  <c:v>303042</c:v>
                </c:pt>
              </c:numCache>
            </c:numRef>
          </c:val>
        </c:ser>
        <c:ser>
          <c:idx val="2"/>
          <c:order val="2"/>
          <c:tx>
            <c:strRef>
              <c:f>Sheet1!$D$1</c:f>
              <c:strCache>
                <c:ptCount val="1"/>
                <c:pt idx="0">
                  <c:v>Shipping €23K</c:v>
                </c:pt>
              </c:strCache>
            </c:strRef>
          </c:tx>
          <c:spPr>
            <a:solidFill>
              <a:srgbClr val="E9A23B"/>
            </a:solidFill>
            <a:effectLst/>
          </c:spPr>
          <c:invertIfNegative val="0"/>
          <c:dLbls>
            <c:numFmt formatCode="#,##0" sourceLinked="0"/>
            <c:txPr>
              <a:bodyPr/>
              <a:lstStyle/>
              <a:p>
                <a:pPr>
                  <a:defRPr b="1" i="0" strike="noStrike" sz="1200" u="none">
                    <a:solidFill>
                      <a:srgbClr val="1B2A30"/>
                    </a:solidFill>
                    <a:latin typeface="+mn-lt"/>
                  </a:defRPr>
                </a:pPr>
              </a:p>
            </c:txPr>
            <c:showLegendKey val="0"/>
            <c:showVal val="0"/>
            <c:showCatName val="0"/>
            <c:showSerName val="0"/>
            <c:showPercent val="0"/>
            <c:showBubbleSize val="0"/>
            <c:showLeaderLines val="0"/>
          </c:dLbls>
          <c:cat>
            <c:multiLvlStrRef>
              <c:f>Sheet1!$A$2:$A$2</c:f>
              <c:multiLvlStrCache>
                <c:ptCount val="1"/>
                <c:lvl>
                  <c:pt idx="0">
                    <c:v>total_amount</c:v>
                  </c:pt>
                </c:lvl>
              </c:multiLvlStrCache>
            </c:multiLvlStrRef>
          </c:cat>
          <c:val>
            <c:numRef>
              <c:f>Sheet1!$D$2:$D$2</c:f>
              <c:numCache>
                <c:formatCode>General</c:formatCode>
                <c:ptCount val="1"/>
                <c:pt idx="0">
                  <c:v>23167</c:v>
                </c:pt>
              </c:numCache>
            </c:numRef>
          </c:val>
        </c:ser>
        <c:dLbls>
          <c:numFmt formatCode="#,##0" sourceLinked="0"/>
          <c:txPr>
            <a:bodyPr/>
            <a:lstStyle/>
            <a:p>
              <a:pPr>
                <a:defRPr b="1" i="0" strike="noStrike" sz="1200" u="none">
                  <a:solidFill>
                    <a:srgbClr val="1B2A30"/>
                  </a:solidFill>
                  <a:latin typeface="+mn-lt"/>
                </a:defRPr>
              </a:pPr>
            </a:p>
          </c:txPr>
          <c:showLegendKey val="0"/>
          <c:showVal val="0"/>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E6E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B2A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30"/>
                </a:solidFill>
                <a:latin typeface="+mn-lt"/>
              </a:defRPr>
            </a:pPr>
            <a:r>
              <a:rPr sz="1300" b="0" i="0" u="none" strike="noStrike">
                <a:solidFill>
                  <a:srgbClr val="1B2A30"/>
                </a:solidFill>
                <a:latin typeface="+mn-lt"/>
              </a:rPr>
              <a:t>Net sales by customer segment</a:t>
            </a:r>
          </a:p>
        </c:rich>
      </c:tx>
      <c:layout/>
      <c:overlay val="0"/>
    </c:title>
    <c:autoTitleDeleted val="0"/>
    <c:plotArea>
      <c:layout/>
      <c:barChart>
        <c:barDir val="col"/>
        <c:grouping val="clustered"/>
        <c:varyColors val="0"/>
        <c:ser>
          <c:idx val="0"/>
          <c:order val="0"/>
          <c:tx>
            <c:strRef>
              <c:f>Sheet1!$B$1</c:f>
              <c:strCache>
                <c:ptCount val="1"/>
                <c:pt idx="0">
                  <c:v>Net sales</c:v>
                </c:pt>
              </c:strCache>
            </c:strRef>
          </c:tx>
          <c:spPr>
            <a:solidFill>
              <a:srgbClr val="2E8B6F"/>
            </a:solidFill>
            <a:effectLst/>
          </c:spPr>
          <c:invertIfNegative val="0"/>
          <c:dLbls>
            <c:numFmt formatCode="€#,##0" sourceLinked="0"/>
            <c:txPr>
              <a:bodyPr/>
              <a:lstStyle/>
              <a:p>
                <a:pPr>
                  <a:defRPr b="1" i="0" strike="noStrike" sz="1200" u="none">
                    <a:solidFill>
                      <a:srgbClr val="1B2A30"/>
                    </a:solidFill>
                    <a:latin typeface="+mn-lt"/>
                  </a:defRPr>
                </a:pPr>
              </a:p>
            </c:txPr>
            <c:showLegendKey val="0"/>
            <c:showVal val="1"/>
            <c:showCatName val="0"/>
            <c:showSerName val="0"/>
            <c:showPercent val="0"/>
            <c:showBubbleSize val="0"/>
            <c:showLeaderLines val="0"/>
          </c:dLbls>
          <c:dPt>
            <c:idx val="0"/>
            <c:invertIfNegative val="0"/>
            <c:bubble3D val="0"/>
            <c:spPr>
              <a:solidFill>
                <a:srgbClr val="2E8B6F"/>
              </a:solidFill>
              <a:effectLst/>
            </c:spPr>
          </c:dPt>
          <c:dPt>
            <c:idx val="1"/>
            <c:invertIfNegative val="0"/>
            <c:bubble3D val="0"/>
            <c:spPr>
              <a:solidFill>
                <a:srgbClr val="9FC3BF"/>
              </a:solidFill>
              <a:effectLst/>
            </c:spPr>
          </c:dPt>
          <c:dPt>
            <c:idx val="2"/>
            <c:invertIfNegative val="0"/>
            <c:bubble3D val="0"/>
            <c:spPr>
              <a:solidFill>
                <a:srgbClr val="9FC3BF"/>
              </a:solidFill>
              <a:effectLst/>
            </c:spPr>
          </c:dPt>
          <c:cat>
            <c:multiLvlStrRef>
              <c:f>Sheet1!$A$2:$A$4</c:f>
              <c:multiLvlStrCache>
                <c:ptCount val="3"/>
                <c:lvl>
                  <c:pt idx="0">
                    <c:v>Top 20%</c:v>
                  </c:pt>
                  <c:pt idx="1">
                    <c:v>Middle 30%</c:v>
                  </c:pt>
                  <c:pt idx="2">
                    <c:v>Bottom 50%</c:v>
                  </c:pt>
                </c:lvl>
              </c:multiLvlStrCache>
            </c:multiLvlStrRef>
          </c:cat>
          <c:val>
            <c:numRef>
              <c:f>Sheet1!$B$2:$B$4</c:f>
              <c:numCache>
                <c:formatCode>General</c:formatCode>
                <c:ptCount val="3"/>
                <c:pt idx="0">
                  <c:v>900673</c:v>
                </c:pt>
                <c:pt idx="1">
                  <c:v>409455</c:v>
                </c:pt>
                <c:pt idx="2">
                  <c:v>193324</c:v>
                </c:pt>
              </c:numCache>
            </c:numRef>
          </c:val>
        </c:ser>
        <c:dLbls>
          <c:numFmt formatCode="€#,##0" sourceLinked="0"/>
          <c:txPr>
            <a:bodyPr/>
            <a:lstStyle/>
            <a:p>
              <a:pPr>
                <a:defRPr b="1" i="0" strike="noStrike" sz="1200" u="none">
                  <a:solidFill>
                    <a:srgbClr val="1B2A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3E5"/>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30"/>
                </a:solidFill>
                <a:latin typeface="+mn-lt"/>
              </a:defRPr>
            </a:pPr>
            <a:r>
              <a:rPr sz="1300" b="0" i="0" u="none" strike="noStrike">
                <a:solidFill>
                  <a:srgbClr val="1B2A30"/>
                </a:solidFill>
                <a:latin typeface="+mn-lt"/>
              </a:rPr>
              <a:t>Net sales by year (2022 starts in Feb)</a:t>
            </a:r>
          </a:p>
        </c:rich>
      </c:tx>
      <c:layout/>
      <c:overlay val="0"/>
    </c:title>
    <c:autoTitleDeleted val="0"/>
    <c:plotArea>
      <c:layout/>
      <c:barChart>
        <c:barDir val="col"/>
        <c:grouping val="clustered"/>
        <c:varyColors val="0"/>
        <c:ser>
          <c:idx val="0"/>
          <c:order val="0"/>
          <c:tx>
            <c:strRef>
              <c:f>Sheet1!$B$1</c:f>
              <c:strCache>
                <c:ptCount val="1"/>
                <c:pt idx="0">
                  <c:v>Net sales</c:v>
                </c:pt>
              </c:strCache>
            </c:strRef>
          </c:tx>
          <c:spPr>
            <a:solidFill>
              <a:srgbClr val="3A6EA5"/>
            </a:solidFill>
            <a:effectLst/>
          </c:spPr>
          <c:invertIfNegative val="0"/>
          <c:dLbls>
            <c:numFmt formatCode="€#,##0,&quot;K&quot;" sourceLinked="0"/>
            <c:txPr>
              <a:bodyPr/>
              <a:lstStyle/>
              <a:p>
                <a:pPr>
                  <a:defRPr b="1" i="0" strike="noStrike" sz="1200" u="none">
                    <a:solidFill>
                      <a:srgbClr val="1B2A30"/>
                    </a:solidFill>
                    <a:latin typeface="+mn-lt"/>
                  </a:defRPr>
                </a:pPr>
              </a:p>
            </c:txPr>
            <c:showLegendKey val="0"/>
            <c:showVal val="1"/>
            <c:showCatName val="0"/>
            <c:showSerName val="0"/>
            <c:showPercent val="0"/>
            <c:showBubbleSize val="0"/>
            <c:showLeaderLines val="0"/>
          </c:dLbls>
          <c:cat>
            <c:multiLvlStrRef>
              <c:f>Sheet1!$A$2:$A$5</c:f>
              <c:multiLvlStrCache>
                <c:ptCount val="4"/>
                <c:lvl>
                  <c:pt idx="0">
                    <c:v>2022</c:v>
                  </c:pt>
                  <c:pt idx="1">
                    <c:v>2023</c:v>
                  </c:pt>
                  <c:pt idx="2">
                    <c:v>2024</c:v>
                  </c:pt>
                  <c:pt idx="3">
                    <c:v>2025</c:v>
                  </c:pt>
                </c:lvl>
              </c:multiLvlStrCache>
            </c:multiLvlStrRef>
          </c:cat>
          <c:val>
            <c:numRef>
              <c:f>Sheet1!$B$2:$B$5</c:f>
              <c:numCache>
                <c:formatCode>General</c:formatCode>
                <c:ptCount val="4"/>
                <c:pt idx="0">
                  <c:v>34828</c:v>
                </c:pt>
                <c:pt idx="1">
                  <c:v>161892</c:v>
                </c:pt>
                <c:pt idx="2">
                  <c:v>361505</c:v>
                </c:pt>
                <c:pt idx="3">
                  <c:v>945228</c:v>
                </c:pt>
              </c:numCache>
            </c:numRef>
          </c:val>
        </c:ser>
        <c:dLbls>
          <c:numFmt formatCode="€#,##0,&quot;K&quot;" sourceLinked="0"/>
          <c:txPr>
            <a:bodyPr/>
            <a:lstStyle/>
            <a:p>
              <a:pPr>
                <a:defRPr b="1" i="0" strike="noStrike" sz="1200" u="none">
                  <a:solidFill>
                    <a:srgbClr val="1B2A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E6E73"/>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3E5"/>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E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retail sales analysis I built in Databricks SQL from the LinkedIn Learning course Databricks for Data Analysts. I ran the course queries, then checked what each number actually counted. Two counting mistakes overstated orders by 83% and sales by 22%. I will show how I found them, how I fixed them, and what the corrected data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One: the course counted product lines as orders, so orders were 83% too high. Two: its sales figure included tax and shipping, 22% too high. Three: once both are fixed, the business story is clear. The top 20% of customers bring 60% of net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ran in Databricks Free Edition. I uploaded the four CSVs to a Unity Catalog Volume and loaded them into Delta tables with read_files. I ran the six course queries in the SQL editor and saved five charts. Then I wrote corrected views and checked every number against the raw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course dashboard dataset, straight from my Databricks screen. Rows 1 and 2 have the same customer, the same second and the same store, and they share one order number. It is one order with two products. Each row is a product line, so counting rows counts products, not orders. On average an order has 1.83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summed total_amount as sales. I reconciled it row by row: on every one of the 4,494 rows, total_amount equals net sales plus tax plus shipping. Tax is not revenue, so the real sales figure is net sales: 1.50 million euros, not 1.83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charts in the Databricks SQL editor on the course queries. A flat 1,000-euro cut labels 59% of customers as VIP and 94% of products as high performance. A segment that holds most of the rows does not separate anyone. I replaced it with a ranking: the top 20%, which is 160 customers and 50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fixes. Count distinct order numbers, use net sales, rank customers instead of a fixed cut, and give one row per customer instead of per order time. I kept the course SQL unchanged next to mine, so anyone can compare them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real orders and net sales, the picture is simple. The top 20% of customers, 160 people, bring 60% of net sales. Sales grew every year, and 2025 alone is 63% of the four-year total. The average order is about 613 euros at a 25.8% gross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charts are from the Databricks SQL editor on the course queries, so their amounts include tax. I checked them on net sales too: Electronics stays at 39 percent, the country ranking is identical, and physical stores stay just over half of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business action and three data actions. Protect the 160 customers who hold most of the sales. Rebuild the dashboard on the corrected view. Fix the two date problems at the source. And run the data-check query before every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repository has the course SQL and my corrected SQL side by side, and the case file on my portfolio has a toggle between the course numbers and the corrected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880360"/>
            <a:ext cx="7863840" cy="8229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rtlCol="0" anchor="ctr"/>
          <a:lstStyle/>
          <a:p>
            <a:pPr indent="0" marL="0">
              <a:buNone/>
            </a:pPr>
            <a:r>
              <a:rPr lang="en-US" sz="1000" dirty="0">
                <a:solidFill>
                  <a:schemeClr val="accent4"/>
                </a:solidFill>
              </a:rPr>
              <a:t>Databricks SQL analytics · Parth Dhawan</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parthdhawan921-ops/databricks-sql-analytics" TargetMode="External"/><Relationship Id="rId4" Type="http://schemas.openxmlformats.org/officeDocument/2006/relationships/hyperlink" Target="https://parthdhawan921-ops.github.io/Parth_Personal/#dbx" TargetMode="External"/><Relationship Id="rId6" Type="http://schemas.openxmlformats.org/officeDocument/2006/relationships/hyperlink" Target="mailto:parthdhawan921@gmail.com" TargetMode="External"/><Relationship Id="rId1" Type="http://schemas.openxmlformats.org/officeDocument/2006/relationships/image" Target="../media/image-11-1.png"/><Relationship Id="rId3" Type="http://schemas.openxmlformats.org/officeDocument/2006/relationships/image" Target="../media/image-11-2.png"/><Relationship Id="rId5" Type="http://schemas.openxmlformats.org/officeDocument/2006/relationships/image" Target="../media/image-11-3.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600" b="1" dirty="0">
                <a:solidFill>
                  <a:schemeClr val="bg1"/>
                </a:solidFill>
              </a:rPr>
              <a:t>Retail sales in Databricks: the course SQL overstated orders by 83%</a:t>
            </a:r>
            <a:endParaRPr lang="en-US" sz="36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Databricks SQL · Unity Catalog · Parth Dhawan · October 2026</a:t>
            </a:r>
            <a:endParaRPr lang="en-US" sz="1800" dirty="0"/>
          </a:p>
        </p:txBody>
      </p:sp>
      <p:sp>
        <p:nvSpPr>
          <p:cNvPr id="4" name="Database disc"/>
          <p:cNvSpPr/>
          <p:nvPr/>
        </p:nvSpPr>
        <p:spPr>
          <a:xfrm>
            <a:off x="548640" y="502920"/>
            <a:ext cx="566928" cy="566928"/>
          </a:xfrm>
          <a:prstGeom prst="ellipse">
            <a:avLst/>
          </a:prstGeom>
          <a:solidFill>
            <a:schemeClr val="accent1"/>
          </a:solidFill>
          <a:ln w="12700">
            <a:solidFill>
              <a:schemeClr val="accent1"/>
            </a:solidFill>
            <a:prstDash val="solid"/>
          </a:ln>
        </p:spPr>
      </p:sp>
      <p:pic>
        <p:nvPicPr>
          <p:cNvPr id="5" name="Database icon" descr="Database">    </p:cNvPr>
          <p:cNvPicPr>
            <a:picLocks noChangeAspect="1"/>
          </p:cNvPicPr>
          <p:nvPr/>
        </p:nvPicPr>
        <p:blipFill>
          <a:blip r:embed="rId1"/>
          <a:stretch>
            <a:fillRect/>
          </a:stretch>
        </p:blipFill>
        <p:spPr>
          <a:xfrm>
            <a:off x="684703" y="638983"/>
            <a:ext cx="294803" cy="294803"/>
          </a:xfrm>
          <a:prstGeom prst="rect">
            <a:avLst/>
          </a:prstGeom>
        </p:spPr>
      </p:pic>
      <p:sp>
        <p:nvSpPr>
          <p:cNvPr id="6" name="Scope line"/>
          <p:cNvSpPr txBox="1"/>
          <p:nvPr/>
        </p:nvSpPr>
        <p:spPr>
          <a:xfrm>
            <a:off x="548640" y="4343400"/>
            <a:ext cx="7863840" cy="320040"/>
          </a:xfrm>
          <a:prstGeom prst="rect">
            <a:avLst/>
          </a:prstGeom>
          <a:noFill/>
          <a:ln/>
        </p:spPr>
        <p:txBody>
          <a:bodyPr wrap="square" lIns="0" tIns="0" rIns="0" bIns="0" rtlCol="0" anchor="ctr"/>
          <a:lstStyle/>
          <a:p>
            <a:pPr indent="0" marL="0">
              <a:buNone/>
            </a:pPr>
            <a:r>
              <a:rPr lang="en-US" sz="1300" dirty="0">
                <a:solidFill>
                  <a:schemeClr val="accent5"/>
                </a:solidFill>
              </a:rPr>
              <a:t>4 tables  ·  4,494 order lines  ·  6 course queries  ·  5 corrected queries  ·  5 Databricks charts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Two counting mistakes, then one clear customer story</a:t>
            </a:r>
            <a:endParaRPr lang="en-US" sz="2600" dirty="0"/>
          </a:p>
        </p:txBody>
      </p:sp>
      <p:sp>
        <p:nvSpPr>
          <p:cNvPr id="3" name="Summary card 1"/>
          <p:cNvSpPr/>
          <p:nvPr/>
        </p:nvSpPr>
        <p:spPr>
          <a:xfrm>
            <a:off x="457200" y="1234440"/>
            <a:ext cx="2615184" cy="3246120"/>
          </a:xfrm>
          <a:prstGeom prst="roundRect">
            <a:avLst>
              <a:gd name="adj" fmla="val 2797"/>
            </a:avLst>
          </a:prstGeom>
          <a:solidFill>
            <a:schemeClr val="bg2"/>
          </a:solidFill>
          <a:ln w="12700">
            <a:solidFill>
              <a:schemeClr val="bg2"/>
            </a:solidFill>
            <a:prstDash val="solid"/>
          </a:ln>
        </p:spPr>
      </p:sp>
      <p:sp>
        <p:nvSpPr>
          <p:cNvPr id="4" name="Summary 1 disc"/>
          <p:cNvSpPr/>
          <p:nvPr/>
        </p:nvSpPr>
        <p:spPr>
          <a:xfrm>
            <a:off x="685800" y="1463040"/>
            <a:ext cx="502920" cy="502920"/>
          </a:xfrm>
          <a:prstGeom prst="ellipse">
            <a:avLst/>
          </a:prstGeom>
          <a:solidFill>
            <a:schemeClr val="accent1"/>
          </a:solidFill>
          <a:ln w="12700">
            <a:solidFill>
              <a:schemeClr val="accent1"/>
            </a:solidFill>
            <a:prstDash val="solid"/>
          </a:ln>
        </p:spPr>
      </p:sp>
      <p:pic>
        <p:nvPicPr>
          <p:cNvPr id="5" name="Summary 1 icon" descr="Summary 1">    </p:cNvPr>
          <p:cNvPicPr>
            <a:picLocks noChangeAspect="1"/>
          </p:cNvPicPr>
          <p:nvPr/>
        </p:nvPicPr>
        <p:blipFill>
          <a:blip r:embed="rId1"/>
          <a:stretch>
            <a:fillRect/>
          </a:stretch>
        </p:blipFill>
        <p:spPr>
          <a:xfrm>
            <a:off x="806501" y="1583741"/>
            <a:ext cx="261518" cy="261518"/>
          </a:xfrm>
          <a:prstGeom prst="rect">
            <a:avLst/>
          </a:prstGeom>
        </p:spPr>
      </p:pic>
      <p:sp>
        <p:nvSpPr>
          <p:cNvPr id="6" name="Summary number 1"/>
          <p:cNvSpPr txBox="1"/>
          <p:nvPr/>
        </p:nvSpPr>
        <p:spPr>
          <a:xfrm>
            <a:off x="685800" y="2103120"/>
            <a:ext cx="2194560" cy="685800"/>
          </a:xfrm>
          <a:prstGeom prst="rect">
            <a:avLst/>
          </a:prstGeom>
          <a:noFill/>
          <a:ln/>
        </p:spPr>
        <p:txBody>
          <a:bodyPr wrap="square" lIns="0" tIns="0" rIns="0" bIns="0" rtlCol="0" anchor="ctr"/>
          <a:lstStyle/>
          <a:p>
            <a:pPr indent="0" marL="0">
              <a:buNone/>
            </a:pPr>
            <a:r>
              <a:rPr lang="en-US" sz="3800" b="1" dirty="0">
                <a:solidFill>
                  <a:schemeClr val="accent1"/>
                </a:solidFill>
              </a:rPr>
              <a:t>+83%</a:t>
            </a:r>
            <a:endParaRPr lang="en-US" sz="3800" dirty="0"/>
          </a:p>
        </p:txBody>
      </p:sp>
      <p:sp>
        <p:nvSpPr>
          <p:cNvPr id="7" name="Summary label 1"/>
          <p:cNvSpPr txBox="1"/>
          <p:nvPr/>
        </p:nvSpPr>
        <p:spPr>
          <a:xfrm>
            <a:off x="685800" y="2788920"/>
            <a:ext cx="2194560" cy="411480"/>
          </a:xfrm>
          <a:prstGeom prst="rect">
            <a:avLst/>
          </a:prstGeom>
          <a:noFill/>
          <a:ln/>
        </p:spPr>
        <p:txBody>
          <a:bodyPr wrap="square" lIns="0" tIns="0" rIns="0" bIns="0" rtlCol="0" anchor="t"/>
          <a:lstStyle/>
          <a:p>
            <a:pPr indent="0" marL="0">
              <a:buNone/>
            </a:pPr>
            <a:r>
              <a:rPr lang="en-US" sz="1500" b="1" dirty="0">
                <a:solidFill>
                  <a:schemeClr val="tx1"/>
                </a:solidFill>
              </a:rPr>
              <a:t>orders overstated</a:t>
            </a:r>
            <a:endParaRPr lang="en-US" sz="1500" dirty="0"/>
          </a:p>
        </p:txBody>
      </p:sp>
      <p:sp>
        <p:nvSpPr>
          <p:cNvPr id="8" name="Summary text 1"/>
          <p:cNvSpPr txBox="1"/>
          <p:nvPr/>
        </p:nvSpPr>
        <p:spPr>
          <a:xfrm>
            <a:off x="685800" y="3246120"/>
            <a:ext cx="2194560" cy="1097280"/>
          </a:xfrm>
          <a:prstGeom prst="rect">
            <a:avLst/>
          </a:prstGeom>
          <a:noFill/>
          <a:ln/>
        </p:spPr>
        <p:txBody>
          <a:bodyPr wrap="square" lIns="0" tIns="0" rIns="0" bIns="0" rtlCol="0" anchor="t"/>
          <a:lstStyle/>
          <a:p>
            <a:pPr indent="0" marL="0">
              <a:buNone/>
            </a:pPr>
            <a:r>
              <a:rPr lang="en-US" sz="1300" dirty="0">
                <a:solidFill>
                  <a:schemeClr val="accent4"/>
                </a:solidFill>
              </a:rPr>
              <a:t>4,494 product lines were counted as orders. There are 2,453 real orders.</a:t>
            </a:r>
            <a:endParaRPr lang="en-US" sz="1300" dirty="0"/>
          </a:p>
        </p:txBody>
      </p:sp>
      <p:sp>
        <p:nvSpPr>
          <p:cNvPr id="9" name="Summary card 2"/>
          <p:cNvSpPr/>
          <p:nvPr/>
        </p:nvSpPr>
        <p:spPr>
          <a:xfrm>
            <a:off x="3264408" y="1234440"/>
            <a:ext cx="2615184" cy="3246120"/>
          </a:xfrm>
          <a:prstGeom prst="roundRect">
            <a:avLst>
              <a:gd name="adj" fmla="val 2797"/>
            </a:avLst>
          </a:prstGeom>
          <a:solidFill>
            <a:schemeClr val="bg2"/>
          </a:solidFill>
          <a:ln w="12700">
            <a:solidFill>
              <a:schemeClr val="bg2"/>
            </a:solidFill>
            <a:prstDash val="solid"/>
          </a:ln>
        </p:spPr>
      </p:sp>
      <p:sp>
        <p:nvSpPr>
          <p:cNvPr id="10" name="Summary 2 disc"/>
          <p:cNvSpPr/>
          <p:nvPr/>
        </p:nvSpPr>
        <p:spPr>
          <a:xfrm>
            <a:off x="3493008" y="1463040"/>
            <a:ext cx="502920" cy="502920"/>
          </a:xfrm>
          <a:prstGeom prst="ellipse">
            <a:avLst/>
          </a:prstGeom>
          <a:solidFill>
            <a:schemeClr val="accent1"/>
          </a:solidFill>
          <a:ln w="12700">
            <a:solidFill>
              <a:schemeClr val="accent1"/>
            </a:solidFill>
            <a:prstDash val="solid"/>
          </a:ln>
        </p:spPr>
      </p:sp>
      <p:pic>
        <p:nvPicPr>
          <p:cNvPr id="11" name="Summary 2 icon" descr="Summary 2">    </p:cNvPr>
          <p:cNvPicPr>
            <a:picLocks noChangeAspect="1"/>
          </p:cNvPicPr>
          <p:nvPr/>
        </p:nvPicPr>
        <p:blipFill>
          <a:blip r:embed="rId2"/>
          <a:stretch>
            <a:fillRect/>
          </a:stretch>
        </p:blipFill>
        <p:spPr>
          <a:xfrm>
            <a:off x="3613709" y="1583741"/>
            <a:ext cx="261518" cy="261518"/>
          </a:xfrm>
          <a:prstGeom prst="rect">
            <a:avLst/>
          </a:prstGeom>
        </p:spPr>
      </p:pic>
      <p:sp>
        <p:nvSpPr>
          <p:cNvPr id="12" name="Summary number 2"/>
          <p:cNvSpPr txBox="1"/>
          <p:nvPr/>
        </p:nvSpPr>
        <p:spPr>
          <a:xfrm>
            <a:off x="3493008" y="2103120"/>
            <a:ext cx="2194560" cy="685800"/>
          </a:xfrm>
          <a:prstGeom prst="rect">
            <a:avLst/>
          </a:prstGeom>
          <a:noFill/>
          <a:ln/>
        </p:spPr>
        <p:txBody>
          <a:bodyPr wrap="square" lIns="0" tIns="0" rIns="0" bIns="0" rtlCol="0" anchor="ctr"/>
          <a:lstStyle/>
          <a:p>
            <a:pPr indent="0" marL="0">
              <a:buNone/>
            </a:pPr>
            <a:r>
              <a:rPr lang="en-US" sz="3800" b="1" dirty="0">
                <a:solidFill>
                  <a:schemeClr val="accent1"/>
                </a:solidFill>
              </a:rPr>
              <a:t>+22%</a:t>
            </a:r>
            <a:endParaRPr lang="en-US" sz="3800" dirty="0"/>
          </a:p>
        </p:txBody>
      </p:sp>
      <p:sp>
        <p:nvSpPr>
          <p:cNvPr id="13" name="Summary label 2"/>
          <p:cNvSpPr txBox="1"/>
          <p:nvPr/>
        </p:nvSpPr>
        <p:spPr>
          <a:xfrm>
            <a:off x="3493008" y="2788920"/>
            <a:ext cx="2194560" cy="411480"/>
          </a:xfrm>
          <a:prstGeom prst="rect">
            <a:avLst/>
          </a:prstGeom>
          <a:noFill/>
          <a:ln/>
        </p:spPr>
        <p:txBody>
          <a:bodyPr wrap="square" lIns="0" tIns="0" rIns="0" bIns="0" rtlCol="0" anchor="t"/>
          <a:lstStyle/>
          <a:p>
            <a:pPr indent="0" marL="0">
              <a:buNone/>
            </a:pPr>
            <a:r>
              <a:rPr lang="en-US" sz="1500" b="1" dirty="0">
                <a:solidFill>
                  <a:schemeClr val="tx1"/>
                </a:solidFill>
              </a:rPr>
              <a:t>sales overstated</a:t>
            </a:r>
            <a:endParaRPr lang="en-US" sz="1500" dirty="0"/>
          </a:p>
        </p:txBody>
      </p:sp>
      <p:sp>
        <p:nvSpPr>
          <p:cNvPr id="14" name="Summary text 2"/>
          <p:cNvSpPr txBox="1"/>
          <p:nvPr/>
        </p:nvSpPr>
        <p:spPr>
          <a:xfrm>
            <a:off x="3493008" y="3246120"/>
            <a:ext cx="2194560" cy="1097280"/>
          </a:xfrm>
          <a:prstGeom prst="rect">
            <a:avLst/>
          </a:prstGeom>
          <a:noFill/>
          <a:ln/>
        </p:spPr>
        <p:txBody>
          <a:bodyPr wrap="square" lIns="0" tIns="0" rIns="0" bIns="0" rtlCol="0" anchor="t"/>
          <a:lstStyle/>
          <a:p>
            <a:pPr indent="0" marL="0">
              <a:buNone/>
            </a:pPr>
            <a:r>
              <a:rPr lang="en-US" sz="1300" dirty="0">
                <a:solidFill>
                  <a:schemeClr val="accent4"/>
                </a:solidFill>
              </a:rPr>
              <a:t>€1.83M included €303K of tax and €23K of shipping. Net sales are €1.50M.</a:t>
            </a:r>
            <a:endParaRPr lang="en-US" sz="1300" dirty="0"/>
          </a:p>
        </p:txBody>
      </p:sp>
      <p:sp>
        <p:nvSpPr>
          <p:cNvPr id="15" name="Summary card 3"/>
          <p:cNvSpPr/>
          <p:nvPr/>
        </p:nvSpPr>
        <p:spPr>
          <a:xfrm>
            <a:off x="6071616" y="1234440"/>
            <a:ext cx="2615184" cy="3246120"/>
          </a:xfrm>
          <a:prstGeom prst="roundRect">
            <a:avLst>
              <a:gd name="adj" fmla="val 2797"/>
            </a:avLst>
          </a:prstGeom>
          <a:solidFill>
            <a:schemeClr val="bg2"/>
          </a:solidFill>
          <a:ln w="12700">
            <a:solidFill>
              <a:schemeClr val="bg2"/>
            </a:solidFill>
            <a:prstDash val="solid"/>
          </a:ln>
        </p:spPr>
      </p:sp>
      <p:sp>
        <p:nvSpPr>
          <p:cNvPr id="16" name="Summary 3 disc"/>
          <p:cNvSpPr/>
          <p:nvPr/>
        </p:nvSpPr>
        <p:spPr>
          <a:xfrm>
            <a:off x="6300216" y="1463040"/>
            <a:ext cx="502920" cy="502920"/>
          </a:xfrm>
          <a:prstGeom prst="ellipse">
            <a:avLst/>
          </a:prstGeom>
          <a:solidFill>
            <a:schemeClr val="accent2"/>
          </a:solidFill>
          <a:ln w="12700">
            <a:solidFill>
              <a:schemeClr val="accent2"/>
            </a:solidFill>
            <a:prstDash val="solid"/>
          </a:ln>
        </p:spPr>
      </p:sp>
      <p:pic>
        <p:nvPicPr>
          <p:cNvPr id="17" name="Summary 3 icon" descr="Summary 3">    </p:cNvPr>
          <p:cNvPicPr>
            <a:picLocks noChangeAspect="1"/>
          </p:cNvPicPr>
          <p:nvPr/>
        </p:nvPicPr>
        <p:blipFill>
          <a:blip r:embed="rId3"/>
          <a:stretch>
            <a:fillRect/>
          </a:stretch>
        </p:blipFill>
        <p:spPr>
          <a:xfrm>
            <a:off x="6420917" y="1583741"/>
            <a:ext cx="261518" cy="261518"/>
          </a:xfrm>
          <a:prstGeom prst="rect">
            <a:avLst/>
          </a:prstGeom>
        </p:spPr>
      </p:pic>
      <p:sp>
        <p:nvSpPr>
          <p:cNvPr id="18" name="Summary number 3"/>
          <p:cNvSpPr txBox="1"/>
          <p:nvPr/>
        </p:nvSpPr>
        <p:spPr>
          <a:xfrm>
            <a:off x="6300216" y="2103120"/>
            <a:ext cx="2194560" cy="685800"/>
          </a:xfrm>
          <a:prstGeom prst="rect">
            <a:avLst/>
          </a:prstGeom>
          <a:noFill/>
          <a:ln/>
        </p:spPr>
        <p:txBody>
          <a:bodyPr wrap="square" lIns="0" tIns="0" rIns="0" bIns="0" rtlCol="0" anchor="ctr"/>
          <a:lstStyle/>
          <a:p>
            <a:pPr indent="0" marL="0">
              <a:buNone/>
            </a:pPr>
            <a:r>
              <a:rPr lang="en-US" sz="3800" b="1" dirty="0">
                <a:solidFill>
                  <a:schemeClr val="accent2"/>
                </a:solidFill>
              </a:rPr>
              <a:t>60%</a:t>
            </a:r>
            <a:endParaRPr lang="en-US" sz="3800" dirty="0"/>
          </a:p>
        </p:txBody>
      </p:sp>
      <p:sp>
        <p:nvSpPr>
          <p:cNvPr id="19" name="Summary label 3"/>
          <p:cNvSpPr txBox="1"/>
          <p:nvPr/>
        </p:nvSpPr>
        <p:spPr>
          <a:xfrm>
            <a:off x="6300216" y="2788920"/>
            <a:ext cx="2194560" cy="411480"/>
          </a:xfrm>
          <a:prstGeom prst="rect">
            <a:avLst/>
          </a:prstGeom>
          <a:noFill/>
          <a:ln/>
        </p:spPr>
        <p:txBody>
          <a:bodyPr wrap="square" lIns="0" tIns="0" rIns="0" bIns="0" rtlCol="0" anchor="t"/>
          <a:lstStyle/>
          <a:p>
            <a:pPr indent="0" marL="0">
              <a:buNone/>
            </a:pPr>
            <a:r>
              <a:rPr lang="en-US" sz="1500" b="1" dirty="0">
                <a:solidFill>
                  <a:schemeClr val="tx1"/>
                </a:solidFill>
              </a:rPr>
              <a:t>from the top 20%</a:t>
            </a:r>
            <a:endParaRPr lang="en-US" sz="1500" dirty="0"/>
          </a:p>
        </p:txBody>
      </p:sp>
      <p:sp>
        <p:nvSpPr>
          <p:cNvPr id="20" name="Summary text 3"/>
          <p:cNvSpPr txBox="1"/>
          <p:nvPr/>
        </p:nvSpPr>
        <p:spPr>
          <a:xfrm>
            <a:off x="6300216" y="3246120"/>
            <a:ext cx="2194560" cy="1097280"/>
          </a:xfrm>
          <a:prstGeom prst="rect">
            <a:avLst/>
          </a:prstGeom>
          <a:noFill/>
          <a:ln/>
        </p:spPr>
        <p:txBody>
          <a:bodyPr wrap="square" lIns="0" tIns="0" rIns="0" bIns="0" rtlCol="0" anchor="t"/>
          <a:lstStyle/>
          <a:p>
            <a:pPr indent="0" marL="0">
              <a:buNone/>
            </a:pPr>
            <a:r>
              <a:rPr lang="en-US" sz="1300" dirty="0">
                <a:solidFill>
                  <a:schemeClr val="accent4"/>
                </a:solidFill>
              </a:rPr>
              <a:t>of net sales, after the fix: 160 of 800 customers bring €900,673.</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Built end to end in Databricks SQL</a:t>
            </a:r>
            <a:endParaRPr lang="en-US" sz="2600" dirty="0"/>
          </a:p>
        </p:txBody>
      </p:sp>
      <p:sp>
        <p:nvSpPr>
          <p:cNvPr id="3" name="Load screenshot frame"/>
          <p:cNvSpPr/>
          <p:nvPr/>
        </p:nvSpPr>
        <p:spPr>
          <a:xfrm>
            <a:off x="457200" y="1143000"/>
            <a:ext cx="5394960" cy="2889001"/>
          </a:xfrm>
          <a:prstGeom prst="rect">
            <a:avLst/>
          </a:prstGeom>
          <a:solidFill>
            <a:schemeClr val="bg1"/>
          </a:solidFill>
          <a:ln w="9525">
            <a:solidFill>
              <a:srgbClr val="D5DDE0"/>
            </a:solidFill>
            <a:prstDash val="solid"/>
          </a:ln>
        </p:spPr>
      </p:sp>
      <p:pic>
        <p:nvPicPr>
          <p:cNvPr id="4" name="Load screenshot" descr="Databricks SQL editor loading four CSVs from a Unity Catalog Volume into Delta tables, catalog tree on the left">    </p:cNvPr>
          <p:cNvPicPr>
            <a:picLocks noChangeAspect="1"/>
          </p:cNvPicPr>
          <p:nvPr/>
        </p:nvPicPr>
        <p:blipFill>
          <a:blip r:embed="rId1"/>
          <a:stretch>
            <a:fillRect/>
          </a:stretch>
        </p:blipFill>
        <p:spPr>
          <a:xfrm>
            <a:off x="457200" y="1143000"/>
            <a:ext cx="5394960" cy="2889001"/>
          </a:xfrm>
          <a:prstGeom prst="rect">
            <a:avLst/>
          </a:prstGeom>
        </p:spPr>
      </p:pic>
      <p:sp>
        <p:nvSpPr>
          <p:cNvPr id="5" name="Step Volume disc"/>
          <p:cNvSpPr/>
          <p:nvPr/>
        </p:nvSpPr>
        <p:spPr>
          <a:xfrm>
            <a:off x="6126480" y="1143000"/>
            <a:ext cx="457200" cy="457200"/>
          </a:xfrm>
          <a:prstGeom prst="ellipse">
            <a:avLst/>
          </a:prstGeom>
          <a:solidFill>
            <a:schemeClr val="tx2"/>
          </a:solidFill>
          <a:ln w="12700">
            <a:solidFill>
              <a:schemeClr val="tx2"/>
            </a:solidFill>
            <a:prstDash val="solid"/>
          </a:ln>
        </p:spPr>
      </p:sp>
      <p:pic>
        <p:nvPicPr>
          <p:cNvPr id="6" name="Step Volume icon" descr="Step Volume">    </p:cNvPr>
          <p:cNvPicPr>
            <a:picLocks noChangeAspect="1"/>
          </p:cNvPicPr>
          <p:nvPr/>
        </p:nvPicPr>
        <p:blipFill>
          <a:blip r:embed="rId2"/>
          <a:stretch>
            <a:fillRect/>
          </a:stretch>
        </p:blipFill>
        <p:spPr>
          <a:xfrm>
            <a:off x="6236208" y="1252728"/>
            <a:ext cx="237744" cy="237744"/>
          </a:xfrm>
          <a:prstGeom prst="rect">
            <a:avLst/>
          </a:prstGeom>
        </p:spPr>
      </p:pic>
      <p:sp>
        <p:nvSpPr>
          <p:cNvPr id="7" name="Step title 1"/>
          <p:cNvSpPr txBox="1"/>
          <p:nvPr/>
        </p:nvSpPr>
        <p:spPr>
          <a:xfrm>
            <a:off x="6720840" y="1106424"/>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Volume</a:t>
            </a:r>
            <a:endParaRPr lang="en-US" sz="1400" dirty="0"/>
          </a:p>
        </p:txBody>
      </p:sp>
      <p:sp>
        <p:nvSpPr>
          <p:cNvPr id="8" name="Step text 1"/>
          <p:cNvSpPr txBox="1"/>
          <p:nvPr/>
        </p:nvSpPr>
        <p:spPr>
          <a:xfrm>
            <a:off x="6720840" y="1380744"/>
            <a:ext cx="2011680" cy="411480"/>
          </a:xfrm>
          <a:prstGeom prst="rect">
            <a:avLst/>
          </a:prstGeom>
          <a:noFill/>
          <a:ln/>
        </p:spPr>
        <p:txBody>
          <a:bodyPr wrap="square" lIns="0" tIns="0" rIns="0" bIns="0" rtlCol="0" anchor="t"/>
          <a:lstStyle/>
          <a:p>
            <a:pPr indent="0" marL="0">
              <a:buNone/>
            </a:pPr>
            <a:r>
              <a:rPr lang="en-US" sz="1150" dirty="0">
                <a:solidFill>
                  <a:schemeClr val="accent4"/>
                </a:solidFill>
              </a:rPr>
              <a:t>4 CSVs uploaded to Unity Catalog</a:t>
            </a:r>
            <a:endParaRPr lang="en-US" sz="1150" dirty="0"/>
          </a:p>
        </p:txBody>
      </p:sp>
      <p:sp>
        <p:nvSpPr>
          <p:cNvPr id="9" name="Step Delta tables disc"/>
          <p:cNvSpPr/>
          <p:nvPr/>
        </p:nvSpPr>
        <p:spPr>
          <a:xfrm>
            <a:off x="6126480" y="1892808"/>
            <a:ext cx="457200" cy="457200"/>
          </a:xfrm>
          <a:prstGeom prst="ellipse">
            <a:avLst/>
          </a:prstGeom>
          <a:solidFill>
            <a:schemeClr val="tx2"/>
          </a:solidFill>
          <a:ln w="12700">
            <a:solidFill>
              <a:schemeClr val="tx2"/>
            </a:solidFill>
            <a:prstDash val="solid"/>
          </a:ln>
        </p:spPr>
      </p:sp>
      <p:pic>
        <p:nvPicPr>
          <p:cNvPr id="10" name="Step Delta tables icon" descr="Step Delta tables">    </p:cNvPr>
          <p:cNvPicPr>
            <a:picLocks noChangeAspect="1"/>
          </p:cNvPicPr>
          <p:nvPr/>
        </p:nvPicPr>
        <p:blipFill>
          <a:blip r:embed="rId3"/>
          <a:stretch>
            <a:fillRect/>
          </a:stretch>
        </p:blipFill>
        <p:spPr>
          <a:xfrm>
            <a:off x="6236208" y="2002536"/>
            <a:ext cx="237744" cy="237744"/>
          </a:xfrm>
          <a:prstGeom prst="rect">
            <a:avLst/>
          </a:prstGeom>
        </p:spPr>
      </p:pic>
      <p:sp>
        <p:nvSpPr>
          <p:cNvPr id="11" name="Step title 2"/>
          <p:cNvSpPr txBox="1"/>
          <p:nvPr/>
        </p:nvSpPr>
        <p:spPr>
          <a:xfrm>
            <a:off x="6720840" y="1856232"/>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Delta tables</a:t>
            </a:r>
            <a:endParaRPr lang="en-US" sz="1400" dirty="0"/>
          </a:p>
        </p:txBody>
      </p:sp>
      <p:sp>
        <p:nvSpPr>
          <p:cNvPr id="12" name="Step text 2"/>
          <p:cNvSpPr txBox="1"/>
          <p:nvPr/>
        </p:nvSpPr>
        <p:spPr>
          <a:xfrm>
            <a:off x="6720840" y="2130552"/>
            <a:ext cx="2011680" cy="411480"/>
          </a:xfrm>
          <a:prstGeom prst="rect">
            <a:avLst/>
          </a:prstGeom>
          <a:noFill/>
          <a:ln/>
        </p:spPr>
        <p:txBody>
          <a:bodyPr wrap="square" lIns="0" tIns="0" rIns="0" bIns="0" rtlCol="0" anchor="t"/>
          <a:lstStyle/>
          <a:p>
            <a:pPr indent="0" marL="0">
              <a:buNone/>
            </a:pPr>
            <a:r>
              <a:rPr lang="en-US" sz="1150" dirty="0">
                <a:solidFill>
                  <a:schemeClr val="accent4"/>
                </a:solidFill>
              </a:rPr>
              <a:t>Loaded with read_files and schema inference</a:t>
            </a:r>
            <a:endParaRPr lang="en-US" sz="1150" dirty="0"/>
          </a:p>
        </p:txBody>
      </p:sp>
      <p:sp>
        <p:nvSpPr>
          <p:cNvPr id="13" name="Step SQL editor disc"/>
          <p:cNvSpPr/>
          <p:nvPr/>
        </p:nvSpPr>
        <p:spPr>
          <a:xfrm>
            <a:off x="6126480" y="2642616"/>
            <a:ext cx="457200" cy="457200"/>
          </a:xfrm>
          <a:prstGeom prst="ellipse">
            <a:avLst/>
          </a:prstGeom>
          <a:solidFill>
            <a:schemeClr val="tx2"/>
          </a:solidFill>
          <a:ln w="12700">
            <a:solidFill>
              <a:schemeClr val="tx2"/>
            </a:solidFill>
            <a:prstDash val="solid"/>
          </a:ln>
        </p:spPr>
      </p:sp>
      <p:pic>
        <p:nvPicPr>
          <p:cNvPr id="14" name="Step SQL editor icon" descr="Step SQL editor">    </p:cNvPr>
          <p:cNvPicPr>
            <a:picLocks noChangeAspect="1"/>
          </p:cNvPicPr>
          <p:nvPr/>
        </p:nvPicPr>
        <p:blipFill>
          <a:blip r:embed="rId4"/>
          <a:stretch>
            <a:fillRect/>
          </a:stretch>
        </p:blipFill>
        <p:spPr>
          <a:xfrm>
            <a:off x="6236208" y="2752344"/>
            <a:ext cx="237744" cy="237744"/>
          </a:xfrm>
          <a:prstGeom prst="rect">
            <a:avLst/>
          </a:prstGeom>
        </p:spPr>
      </p:pic>
      <p:sp>
        <p:nvSpPr>
          <p:cNvPr id="15" name="Step title 3"/>
          <p:cNvSpPr txBox="1"/>
          <p:nvPr/>
        </p:nvSpPr>
        <p:spPr>
          <a:xfrm>
            <a:off x="6720840" y="2606040"/>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SQL editor</a:t>
            </a:r>
            <a:endParaRPr lang="en-US" sz="1400" dirty="0"/>
          </a:p>
        </p:txBody>
      </p:sp>
      <p:sp>
        <p:nvSpPr>
          <p:cNvPr id="16" name="Step text 3"/>
          <p:cNvSpPr txBox="1"/>
          <p:nvPr/>
        </p:nvSpPr>
        <p:spPr>
          <a:xfrm>
            <a:off x="6720840" y="2880360"/>
            <a:ext cx="2011680" cy="411480"/>
          </a:xfrm>
          <a:prstGeom prst="rect">
            <a:avLst/>
          </a:prstGeom>
          <a:noFill/>
          <a:ln/>
        </p:spPr>
        <p:txBody>
          <a:bodyPr wrap="square" lIns="0" tIns="0" rIns="0" bIns="0" rtlCol="0" anchor="t"/>
          <a:lstStyle/>
          <a:p>
            <a:pPr indent="0" marL="0">
              <a:buNone/>
            </a:pPr>
            <a:r>
              <a:rPr lang="en-US" sz="1150" dirty="0">
                <a:solidFill>
                  <a:schemeClr val="accent4"/>
                </a:solidFill>
              </a:rPr>
              <a:t>6 course queries and 5 charts</a:t>
            </a:r>
            <a:endParaRPr lang="en-US" sz="1150" dirty="0"/>
          </a:p>
        </p:txBody>
      </p:sp>
      <p:sp>
        <p:nvSpPr>
          <p:cNvPr id="17" name="Step Corrected views disc"/>
          <p:cNvSpPr/>
          <p:nvPr/>
        </p:nvSpPr>
        <p:spPr>
          <a:xfrm>
            <a:off x="6126480" y="3392424"/>
            <a:ext cx="457200" cy="457200"/>
          </a:xfrm>
          <a:prstGeom prst="ellipse">
            <a:avLst/>
          </a:prstGeom>
          <a:solidFill>
            <a:schemeClr val="accent2"/>
          </a:solidFill>
          <a:ln w="12700">
            <a:solidFill>
              <a:schemeClr val="accent2"/>
            </a:solidFill>
            <a:prstDash val="solid"/>
          </a:ln>
        </p:spPr>
      </p:sp>
      <p:pic>
        <p:nvPicPr>
          <p:cNvPr id="18" name="Step Corrected views icon" descr="Step Corrected views">    </p:cNvPr>
          <p:cNvPicPr>
            <a:picLocks noChangeAspect="1"/>
          </p:cNvPicPr>
          <p:nvPr/>
        </p:nvPicPr>
        <p:blipFill>
          <a:blip r:embed="rId5"/>
          <a:stretch>
            <a:fillRect/>
          </a:stretch>
        </p:blipFill>
        <p:spPr>
          <a:xfrm>
            <a:off x="6236208" y="3502152"/>
            <a:ext cx="237744" cy="237744"/>
          </a:xfrm>
          <a:prstGeom prst="rect">
            <a:avLst/>
          </a:prstGeom>
        </p:spPr>
      </p:pic>
      <p:sp>
        <p:nvSpPr>
          <p:cNvPr id="19" name="Step title 4"/>
          <p:cNvSpPr txBox="1"/>
          <p:nvPr/>
        </p:nvSpPr>
        <p:spPr>
          <a:xfrm>
            <a:off x="6720840" y="3355848"/>
            <a:ext cx="2011680" cy="274320"/>
          </a:xfrm>
          <a:prstGeom prst="rect">
            <a:avLst/>
          </a:prstGeom>
          <a:noFill/>
          <a:ln/>
        </p:spPr>
        <p:txBody>
          <a:bodyPr wrap="square" lIns="0" tIns="0" rIns="0" bIns="0" rtlCol="0" anchor="ctr"/>
          <a:lstStyle/>
          <a:p>
            <a:pPr indent="0" marL="0">
              <a:buNone/>
            </a:pPr>
            <a:r>
              <a:rPr lang="en-US" sz="1400" b="1" dirty="0">
                <a:solidFill>
                  <a:schemeClr val="tx1"/>
                </a:solidFill>
              </a:rPr>
              <a:t>Corrected views</a:t>
            </a:r>
            <a:endParaRPr lang="en-US" sz="1400" dirty="0"/>
          </a:p>
        </p:txBody>
      </p:sp>
      <p:sp>
        <p:nvSpPr>
          <p:cNvPr id="20" name="Step text 4"/>
          <p:cNvSpPr txBox="1"/>
          <p:nvPr/>
        </p:nvSpPr>
        <p:spPr>
          <a:xfrm>
            <a:off x="6720840" y="3630168"/>
            <a:ext cx="2011680" cy="411480"/>
          </a:xfrm>
          <a:prstGeom prst="rect">
            <a:avLst/>
          </a:prstGeom>
          <a:noFill/>
          <a:ln/>
        </p:spPr>
        <p:txBody>
          <a:bodyPr wrap="square" lIns="0" tIns="0" rIns="0" bIns="0" rtlCol="0" anchor="t"/>
          <a:lstStyle/>
          <a:p>
            <a:pPr indent="0" marL="0">
              <a:buNone/>
            </a:pPr>
            <a:r>
              <a:rPr lang="en-US" sz="1150" dirty="0">
                <a:solidFill>
                  <a:schemeClr val="accent4"/>
                </a:solidFill>
              </a:rPr>
              <a:t>Every number checked against the raw tables</a:t>
            </a:r>
            <a:endParaRPr lang="en-US" sz="1150" dirty="0"/>
          </a:p>
        </p:txBody>
      </p:sp>
      <p:sp>
        <p:nvSpPr>
          <p:cNvPr id="21" name="Data line"/>
          <p:cNvSpPr txBox="1"/>
          <p:nvPr/>
        </p:nvSpPr>
        <p:spPr>
          <a:xfrm>
            <a:off x="457200" y="4224528"/>
            <a:ext cx="8229600" cy="320040"/>
          </a:xfrm>
          <a:prstGeom prst="rect">
            <a:avLst/>
          </a:prstGeom>
          <a:noFill/>
          <a:ln/>
        </p:spPr>
        <p:txBody>
          <a:bodyPr wrap="square" lIns="0" tIns="0" rIns="0" bIns="0" rtlCol="0" anchor="ctr"/>
          <a:lstStyle/>
          <a:p>
            <a:pPr indent="0" marL="0">
              <a:buNone/>
            </a:pPr>
            <a:r>
              <a:rPr lang="en-US" sz="1200" i="1" dirty="0">
                <a:solidFill>
                  <a:schemeClr val="accent4"/>
                </a:solidFill>
              </a:rPr>
              <a:t>Data: 800 customers, 4,494 order lines, 250 products and 20 stores across 10 European countries, 2022 to 2025.</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Spot it: rows 1 and 2 are one order, counted twice</a:t>
            </a:r>
            <a:endParaRPr lang="en-US" sz="2600" dirty="0"/>
          </a:p>
        </p:txBody>
      </p:sp>
      <p:sp>
        <p:nvSpPr>
          <p:cNvPr id="3" name="Rows screenshot frame"/>
          <p:cNvSpPr/>
          <p:nvPr/>
        </p:nvSpPr>
        <p:spPr>
          <a:xfrm>
            <a:off x="457200" y="1097280"/>
            <a:ext cx="8229600" cy="965484"/>
          </a:xfrm>
          <a:prstGeom prst="rect">
            <a:avLst/>
          </a:prstGeom>
          <a:solidFill>
            <a:schemeClr val="bg1"/>
          </a:solidFill>
          <a:ln w="9525">
            <a:solidFill>
              <a:srgbClr val="D5DDE0"/>
            </a:solidFill>
            <a:prstDash val="solid"/>
          </a:ln>
        </p:spPr>
      </p:sp>
      <p:pic>
        <p:nvPicPr>
          <p:cNvPr id="4" name="Rows screenshot" descr="Course dashboard dataset: rows 1 and 2 share customer C000332, timestamp 2025-09-08 13:28:50 and store S00014">    </p:cNvPr>
          <p:cNvPicPr>
            <a:picLocks noChangeAspect="1"/>
          </p:cNvPicPr>
          <p:nvPr/>
        </p:nvPicPr>
        <p:blipFill>
          <a:blip r:embed="rId1"/>
          <a:stretch>
            <a:fillRect/>
          </a:stretch>
        </p:blipFill>
        <p:spPr>
          <a:xfrm>
            <a:off x="457200" y="1097280"/>
            <a:ext cx="8229600" cy="965484"/>
          </a:xfrm>
          <a:prstGeom prst="rect">
            <a:avLst/>
          </a:prstGeom>
        </p:spPr>
      </p:pic>
      <p:sp>
        <p:nvSpPr>
          <p:cNvPr id="5" name="Same card 1"/>
          <p:cNvSpPr/>
          <p:nvPr/>
        </p:nvSpPr>
        <p:spPr>
          <a:xfrm>
            <a:off x="457200" y="2331720"/>
            <a:ext cx="1920240" cy="914400"/>
          </a:xfrm>
          <a:prstGeom prst="roundRect">
            <a:avLst>
              <a:gd name="adj" fmla="val 8000"/>
            </a:avLst>
          </a:prstGeom>
          <a:solidFill>
            <a:schemeClr val="bg2"/>
          </a:solidFill>
          <a:ln w="12700">
            <a:solidFill>
              <a:schemeClr val="bg2"/>
            </a:solidFill>
            <a:prstDash val="solid"/>
          </a:ln>
        </p:spPr>
      </p:sp>
      <p:sp>
        <p:nvSpPr>
          <p:cNvPr id="6" name="Same label 1"/>
          <p:cNvSpPr txBox="1"/>
          <p:nvPr/>
        </p:nvSpPr>
        <p:spPr>
          <a:xfrm>
            <a:off x="621792" y="2423160"/>
            <a:ext cx="1645920" cy="274320"/>
          </a:xfrm>
          <a:prstGeom prst="rect">
            <a:avLst/>
          </a:prstGeom>
          <a:noFill/>
          <a:ln/>
        </p:spPr>
        <p:txBody>
          <a:bodyPr wrap="square" lIns="0" tIns="0" rIns="0" bIns="0" rtlCol="0" anchor="ctr"/>
          <a:lstStyle/>
          <a:p>
            <a:pPr indent="0" marL="0">
              <a:buNone/>
            </a:pPr>
            <a:r>
              <a:rPr lang="en-US" sz="1200" dirty="0">
                <a:solidFill>
                  <a:schemeClr val="accent4"/>
                </a:solidFill>
              </a:rPr>
              <a:t>Same customer</a:t>
            </a:r>
            <a:endParaRPr lang="en-US" sz="1200" dirty="0"/>
          </a:p>
        </p:txBody>
      </p:sp>
      <p:sp>
        <p:nvSpPr>
          <p:cNvPr id="7" name="Same value 1"/>
          <p:cNvSpPr txBox="1"/>
          <p:nvPr/>
        </p:nvSpPr>
        <p:spPr>
          <a:xfrm>
            <a:off x="621792" y="2715768"/>
            <a:ext cx="1691640" cy="411480"/>
          </a:xfrm>
          <a:prstGeom prst="rect">
            <a:avLst/>
          </a:prstGeom>
          <a:noFill/>
          <a:ln/>
        </p:spPr>
        <p:txBody>
          <a:bodyPr wrap="square" lIns="0" tIns="0" rIns="0" bIns="0" rtlCol="0" anchor="ctr"/>
          <a:lstStyle/>
          <a:p>
            <a:pPr indent="0" marL="0">
              <a:buNone/>
            </a:pPr>
            <a:r>
              <a:rPr lang="en-US" sz="2000" b="1" dirty="0">
                <a:solidFill>
                  <a:schemeClr val="tx1"/>
                </a:solidFill>
              </a:rPr>
              <a:t>C000332</a:t>
            </a:r>
            <a:endParaRPr lang="en-US" sz="2000" dirty="0"/>
          </a:p>
        </p:txBody>
      </p:sp>
      <p:sp>
        <p:nvSpPr>
          <p:cNvPr id="8" name="Same card 2"/>
          <p:cNvSpPr/>
          <p:nvPr/>
        </p:nvSpPr>
        <p:spPr>
          <a:xfrm>
            <a:off x="2560320" y="2331720"/>
            <a:ext cx="1920240" cy="914400"/>
          </a:xfrm>
          <a:prstGeom prst="roundRect">
            <a:avLst>
              <a:gd name="adj" fmla="val 8000"/>
            </a:avLst>
          </a:prstGeom>
          <a:solidFill>
            <a:schemeClr val="bg2"/>
          </a:solidFill>
          <a:ln w="12700">
            <a:solidFill>
              <a:schemeClr val="bg2"/>
            </a:solidFill>
            <a:prstDash val="solid"/>
          </a:ln>
        </p:spPr>
      </p:sp>
      <p:sp>
        <p:nvSpPr>
          <p:cNvPr id="9" name="Same label 2"/>
          <p:cNvSpPr txBox="1"/>
          <p:nvPr/>
        </p:nvSpPr>
        <p:spPr>
          <a:xfrm>
            <a:off x="2724912" y="2423160"/>
            <a:ext cx="1645920" cy="274320"/>
          </a:xfrm>
          <a:prstGeom prst="rect">
            <a:avLst/>
          </a:prstGeom>
          <a:noFill/>
          <a:ln/>
        </p:spPr>
        <p:txBody>
          <a:bodyPr wrap="square" lIns="0" tIns="0" rIns="0" bIns="0" rtlCol="0" anchor="ctr"/>
          <a:lstStyle/>
          <a:p>
            <a:pPr indent="0" marL="0">
              <a:buNone/>
            </a:pPr>
            <a:r>
              <a:rPr lang="en-US" sz="1200" dirty="0">
                <a:solidFill>
                  <a:schemeClr val="accent4"/>
                </a:solidFill>
              </a:rPr>
              <a:t>Same second</a:t>
            </a:r>
            <a:endParaRPr lang="en-US" sz="1200" dirty="0"/>
          </a:p>
        </p:txBody>
      </p:sp>
      <p:sp>
        <p:nvSpPr>
          <p:cNvPr id="10" name="Same value 2"/>
          <p:cNvSpPr txBox="1"/>
          <p:nvPr/>
        </p:nvSpPr>
        <p:spPr>
          <a:xfrm>
            <a:off x="2724912" y="2715768"/>
            <a:ext cx="1691640" cy="411480"/>
          </a:xfrm>
          <a:prstGeom prst="rect">
            <a:avLst/>
          </a:prstGeom>
          <a:noFill/>
          <a:ln/>
        </p:spPr>
        <p:txBody>
          <a:bodyPr wrap="square" lIns="0" tIns="0" rIns="0" bIns="0" rtlCol="0" anchor="ctr"/>
          <a:lstStyle/>
          <a:p>
            <a:pPr indent="0" marL="0">
              <a:buNone/>
            </a:pPr>
            <a:r>
              <a:rPr lang="en-US" sz="2000" b="1" dirty="0">
                <a:solidFill>
                  <a:schemeClr val="tx1"/>
                </a:solidFill>
              </a:rPr>
              <a:t>13:28:50</a:t>
            </a:r>
            <a:endParaRPr lang="en-US" sz="2000" dirty="0"/>
          </a:p>
        </p:txBody>
      </p:sp>
      <p:sp>
        <p:nvSpPr>
          <p:cNvPr id="11" name="Same card 3"/>
          <p:cNvSpPr/>
          <p:nvPr/>
        </p:nvSpPr>
        <p:spPr>
          <a:xfrm>
            <a:off x="4663440" y="2331720"/>
            <a:ext cx="1920240" cy="914400"/>
          </a:xfrm>
          <a:prstGeom prst="roundRect">
            <a:avLst>
              <a:gd name="adj" fmla="val 8000"/>
            </a:avLst>
          </a:prstGeom>
          <a:solidFill>
            <a:schemeClr val="bg2"/>
          </a:solidFill>
          <a:ln w="12700">
            <a:solidFill>
              <a:schemeClr val="bg2"/>
            </a:solidFill>
            <a:prstDash val="solid"/>
          </a:ln>
        </p:spPr>
      </p:sp>
      <p:sp>
        <p:nvSpPr>
          <p:cNvPr id="12" name="Same label 3"/>
          <p:cNvSpPr txBox="1"/>
          <p:nvPr/>
        </p:nvSpPr>
        <p:spPr>
          <a:xfrm>
            <a:off x="4828032" y="2423160"/>
            <a:ext cx="1645920" cy="274320"/>
          </a:xfrm>
          <a:prstGeom prst="rect">
            <a:avLst/>
          </a:prstGeom>
          <a:noFill/>
          <a:ln/>
        </p:spPr>
        <p:txBody>
          <a:bodyPr wrap="square" lIns="0" tIns="0" rIns="0" bIns="0" rtlCol="0" anchor="ctr"/>
          <a:lstStyle/>
          <a:p>
            <a:pPr indent="0" marL="0">
              <a:buNone/>
            </a:pPr>
            <a:r>
              <a:rPr lang="en-US" sz="1200" dirty="0">
                <a:solidFill>
                  <a:schemeClr val="accent4"/>
                </a:solidFill>
              </a:rPr>
              <a:t>Same store</a:t>
            </a:r>
            <a:endParaRPr lang="en-US" sz="1200" dirty="0"/>
          </a:p>
        </p:txBody>
      </p:sp>
      <p:sp>
        <p:nvSpPr>
          <p:cNvPr id="13" name="Same value 3"/>
          <p:cNvSpPr txBox="1"/>
          <p:nvPr/>
        </p:nvSpPr>
        <p:spPr>
          <a:xfrm>
            <a:off x="4828032" y="2715768"/>
            <a:ext cx="1691640" cy="411480"/>
          </a:xfrm>
          <a:prstGeom prst="rect">
            <a:avLst/>
          </a:prstGeom>
          <a:noFill/>
          <a:ln/>
        </p:spPr>
        <p:txBody>
          <a:bodyPr wrap="square" lIns="0" tIns="0" rIns="0" bIns="0" rtlCol="0" anchor="ctr"/>
          <a:lstStyle/>
          <a:p>
            <a:pPr indent="0" marL="0">
              <a:buNone/>
            </a:pPr>
            <a:r>
              <a:rPr lang="en-US" sz="2000" b="1" dirty="0">
                <a:solidFill>
                  <a:schemeClr val="tx1"/>
                </a:solidFill>
              </a:rPr>
              <a:t>S00014</a:t>
            </a:r>
            <a:endParaRPr lang="en-US" sz="2000" dirty="0"/>
          </a:p>
        </p:txBody>
      </p:sp>
      <p:sp>
        <p:nvSpPr>
          <p:cNvPr id="14" name="Same card 4"/>
          <p:cNvSpPr/>
          <p:nvPr/>
        </p:nvSpPr>
        <p:spPr>
          <a:xfrm>
            <a:off x="6766560" y="2331720"/>
            <a:ext cx="1920240" cy="914400"/>
          </a:xfrm>
          <a:prstGeom prst="roundRect">
            <a:avLst>
              <a:gd name="adj" fmla="val 8000"/>
            </a:avLst>
          </a:prstGeom>
          <a:solidFill>
            <a:schemeClr val="tx2"/>
          </a:solidFill>
          <a:ln w="12700">
            <a:solidFill>
              <a:schemeClr val="tx2"/>
            </a:solidFill>
            <a:prstDash val="solid"/>
          </a:ln>
        </p:spPr>
      </p:sp>
      <p:sp>
        <p:nvSpPr>
          <p:cNvPr id="15" name="Same label 4"/>
          <p:cNvSpPr txBox="1"/>
          <p:nvPr/>
        </p:nvSpPr>
        <p:spPr>
          <a:xfrm>
            <a:off x="6931152" y="2423160"/>
            <a:ext cx="1645920" cy="274320"/>
          </a:xfrm>
          <a:prstGeom prst="rect">
            <a:avLst/>
          </a:prstGeom>
          <a:noFill/>
          <a:ln/>
        </p:spPr>
        <p:txBody>
          <a:bodyPr wrap="square" lIns="0" tIns="0" rIns="0" bIns="0" rtlCol="0" anchor="ctr"/>
          <a:lstStyle/>
          <a:p>
            <a:pPr indent="0" marL="0">
              <a:buNone/>
            </a:pPr>
            <a:r>
              <a:rPr lang="en-US" sz="1200" dirty="0">
                <a:solidFill>
                  <a:schemeClr val="accent5"/>
                </a:solidFill>
              </a:rPr>
              <a:t>One order number</a:t>
            </a:r>
            <a:endParaRPr lang="en-US" sz="1200" dirty="0"/>
          </a:p>
        </p:txBody>
      </p:sp>
      <p:sp>
        <p:nvSpPr>
          <p:cNvPr id="16" name="Same value 4"/>
          <p:cNvSpPr txBox="1"/>
          <p:nvPr/>
        </p:nvSpPr>
        <p:spPr>
          <a:xfrm>
            <a:off x="6931152" y="2715768"/>
            <a:ext cx="1691640" cy="411480"/>
          </a:xfrm>
          <a:prstGeom prst="rect">
            <a:avLst/>
          </a:prstGeom>
          <a:noFill/>
          <a:ln/>
        </p:spPr>
        <p:txBody>
          <a:bodyPr wrap="square" lIns="0" tIns="0" rIns="0" bIns="0" rtlCol="0" anchor="ctr"/>
          <a:lstStyle/>
          <a:p>
            <a:pPr indent="0" marL="0">
              <a:buNone/>
            </a:pPr>
            <a:r>
              <a:rPr lang="en-US" sz="1500" b="1" dirty="0">
                <a:solidFill>
                  <a:schemeClr val="bg1"/>
                </a:solidFill>
              </a:rPr>
              <a:t>ES-202512-28364</a:t>
            </a:r>
            <a:endParaRPr lang="en-US" sz="1500" dirty="0"/>
          </a:p>
        </p:txBody>
      </p:sp>
      <p:sp>
        <p:nvSpPr>
          <p:cNvPr id="17" name="Grain explanation"/>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500" b="1" dirty="0">
                <a:solidFill>
                  <a:schemeClr val="tx1"/>
                </a:solidFill>
              </a:rPr>
              <a:t>4,494 rows ÷ 2,453 order numbers = 1.83 product lines per order. </a:t>
            </a:r>
            <a:pPr indent="0" marL="0">
              <a:buNone/>
            </a:pPr>
            <a:r>
              <a:rPr lang="en-US" sz="1500" dirty="0">
                <a:solidFill>
                  <a:schemeClr val="accent4"/>
                </a:solidFill>
              </a:rPr>
              <a:t>So COUNT(order_id) counts products in baskets, not orders. The fix is COUNT(DISTINCT order_number).</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"Sales" included tax and shipping</a:t>
            </a:r>
            <a:endParaRPr lang="en-US" sz="2600" dirty="0"/>
          </a:p>
        </p:txBody>
      </p:sp>
      <p:graphicFrame>
        <p:nvGraphicFramePr>
          <p:cNvPr id="3" name="Total amount chart" descr=""/>
          <p:cNvGraphicFramePr/>
          <p:nvPr/>
        </p:nvGraphicFramePr>
        <p:xfrm>
          <a:off x="457200" y="1143000"/>
          <a:ext cx="8229600" cy="1737360"/>
        </p:xfrm>
        <a:graphic xmlns:a="http://schemas.openxmlformats.org/drawingml/2006/main">
          <a:graphicData uri="http://schemas.openxmlformats.org/drawingml/2006/chart">
            <c:chart xmlns:c="http://schemas.openxmlformats.org/drawingml/2006/chart" r:id="rId1"/>
          </a:graphicData>
        </a:graphic>
      </p:graphicFrame>
      <p:sp>
        <p:nvSpPr>
          <p:cNvPr id="4" name="Fact card 1"/>
          <p:cNvSpPr/>
          <p:nvPr/>
        </p:nvSpPr>
        <p:spPr>
          <a:xfrm>
            <a:off x="457200" y="3108960"/>
            <a:ext cx="2615184" cy="1280160"/>
          </a:xfrm>
          <a:prstGeom prst="roundRect">
            <a:avLst>
              <a:gd name="adj" fmla="val 5714"/>
            </a:avLst>
          </a:prstGeom>
          <a:solidFill>
            <a:schemeClr val="bg2"/>
          </a:solidFill>
          <a:ln w="12700">
            <a:solidFill>
              <a:schemeClr val="bg2"/>
            </a:solidFill>
            <a:prstDash val="solid"/>
          </a:ln>
        </p:spPr>
      </p:sp>
      <p:sp>
        <p:nvSpPr>
          <p:cNvPr id="5" name="Fact number 1"/>
          <p:cNvSpPr txBox="1"/>
          <p:nvPr/>
        </p:nvSpPr>
        <p:spPr>
          <a:xfrm>
            <a:off x="658368" y="3218688"/>
            <a:ext cx="2286000" cy="502920"/>
          </a:xfrm>
          <a:prstGeom prst="rect">
            <a:avLst/>
          </a:prstGeom>
          <a:noFill/>
          <a:ln/>
        </p:spPr>
        <p:txBody>
          <a:bodyPr wrap="square" lIns="0" tIns="0" rIns="0" bIns="0" rtlCol="0" anchor="ctr"/>
          <a:lstStyle/>
          <a:p>
            <a:pPr indent="0" marL="0">
              <a:buNone/>
            </a:pPr>
            <a:r>
              <a:rPr lang="en-US" sz="2600" b="1" dirty="0">
                <a:solidFill>
                  <a:schemeClr val="accent1"/>
                </a:solidFill>
              </a:rPr>
              <a:t>€1.83M</a:t>
            </a:r>
            <a:endParaRPr lang="en-US" sz="2600" dirty="0"/>
          </a:p>
        </p:txBody>
      </p:sp>
      <p:sp>
        <p:nvSpPr>
          <p:cNvPr id="6" name="Fact text 1"/>
          <p:cNvSpPr txBox="1"/>
          <p:nvPr/>
        </p:nvSpPr>
        <p:spPr>
          <a:xfrm>
            <a:off x="658368" y="3749040"/>
            <a:ext cx="2286000" cy="548640"/>
          </a:xfrm>
          <a:prstGeom prst="rect">
            <a:avLst/>
          </a:prstGeom>
          <a:noFill/>
          <a:ln/>
        </p:spPr>
        <p:txBody>
          <a:bodyPr wrap="square" lIns="0" tIns="0" rIns="0" bIns="0" rtlCol="0" anchor="t"/>
          <a:lstStyle/>
          <a:p>
            <a:pPr indent="0" marL="0">
              <a:buNone/>
            </a:pPr>
            <a:r>
              <a:rPr lang="en-US" sz="1250" dirty="0">
                <a:solidFill>
                  <a:schemeClr val="accent4"/>
                </a:solidFill>
              </a:rPr>
              <a:t>what the course called sales (total_amount)</a:t>
            </a:r>
            <a:endParaRPr lang="en-US" sz="1250" dirty="0"/>
          </a:p>
        </p:txBody>
      </p:sp>
      <p:sp>
        <p:nvSpPr>
          <p:cNvPr id="7" name="Fact card 2"/>
          <p:cNvSpPr/>
          <p:nvPr/>
        </p:nvSpPr>
        <p:spPr>
          <a:xfrm>
            <a:off x="3264408" y="3108960"/>
            <a:ext cx="2615184" cy="1280160"/>
          </a:xfrm>
          <a:prstGeom prst="roundRect">
            <a:avLst>
              <a:gd name="adj" fmla="val 5714"/>
            </a:avLst>
          </a:prstGeom>
          <a:solidFill>
            <a:schemeClr val="bg2"/>
          </a:solidFill>
          <a:ln w="12700">
            <a:solidFill>
              <a:schemeClr val="bg2"/>
            </a:solidFill>
            <a:prstDash val="solid"/>
          </a:ln>
        </p:spPr>
      </p:sp>
      <p:sp>
        <p:nvSpPr>
          <p:cNvPr id="8" name="Fact number 2"/>
          <p:cNvSpPr txBox="1"/>
          <p:nvPr/>
        </p:nvSpPr>
        <p:spPr>
          <a:xfrm>
            <a:off x="3465576" y="3218688"/>
            <a:ext cx="2286000" cy="502920"/>
          </a:xfrm>
          <a:prstGeom prst="rect">
            <a:avLst/>
          </a:prstGeom>
          <a:noFill/>
          <a:ln/>
        </p:spPr>
        <p:txBody>
          <a:bodyPr wrap="square" lIns="0" tIns="0" rIns="0" bIns="0" rtlCol="0" anchor="ctr"/>
          <a:lstStyle/>
          <a:p>
            <a:pPr indent="0" marL="0">
              <a:buNone/>
            </a:pPr>
            <a:r>
              <a:rPr lang="en-US" sz="2600" b="1" dirty="0">
                <a:solidFill>
                  <a:schemeClr val="accent2"/>
                </a:solidFill>
              </a:rPr>
              <a:t>€1.50M</a:t>
            </a:r>
            <a:endParaRPr lang="en-US" sz="2600" dirty="0"/>
          </a:p>
        </p:txBody>
      </p:sp>
      <p:sp>
        <p:nvSpPr>
          <p:cNvPr id="9" name="Fact text 2"/>
          <p:cNvSpPr txBox="1"/>
          <p:nvPr/>
        </p:nvSpPr>
        <p:spPr>
          <a:xfrm>
            <a:off x="3465576" y="3749040"/>
            <a:ext cx="2286000" cy="548640"/>
          </a:xfrm>
          <a:prstGeom prst="rect">
            <a:avLst/>
          </a:prstGeom>
          <a:noFill/>
          <a:ln/>
        </p:spPr>
        <p:txBody>
          <a:bodyPr wrap="square" lIns="0" tIns="0" rIns="0" bIns="0" rtlCol="0" anchor="t"/>
          <a:lstStyle/>
          <a:p>
            <a:pPr indent="0" marL="0">
              <a:buNone/>
            </a:pPr>
            <a:r>
              <a:rPr lang="en-US" sz="1250" dirty="0">
                <a:solidFill>
                  <a:schemeClr val="accent4"/>
                </a:solidFill>
              </a:rPr>
              <a:t>net sales: line subtotal minus discount</a:t>
            </a:r>
            <a:endParaRPr lang="en-US" sz="1250" dirty="0"/>
          </a:p>
        </p:txBody>
      </p:sp>
      <p:sp>
        <p:nvSpPr>
          <p:cNvPr id="10" name="Fact card 3"/>
          <p:cNvSpPr/>
          <p:nvPr/>
        </p:nvSpPr>
        <p:spPr>
          <a:xfrm>
            <a:off x="6071616" y="3108960"/>
            <a:ext cx="2615184" cy="1280160"/>
          </a:xfrm>
          <a:prstGeom prst="roundRect">
            <a:avLst>
              <a:gd name="adj" fmla="val 5714"/>
            </a:avLst>
          </a:prstGeom>
          <a:solidFill>
            <a:schemeClr val="bg2"/>
          </a:solidFill>
          <a:ln w="12700">
            <a:solidFill>
              <a:schemeClr val="bg2"/>
            </a:solidFill>
            <a:prstDash val="solid"/>
          </a:ln>
        </p:spPr>
      </p:sp>
      <p:sp>
        <p:nvSpPr>
          <p:cNvPr id="11" name="Fact number 3"/>
          <p:cNvSpPr txBox="1"/>
          <p:nvPr/>
        </p:nvSpPr>
        <p:spPr>
          <a:xfrm>
            <a:off x="6272784" y="3218688"/>
            <a:ext cx="2286000" cy="502920"/>
          </a:xfrm>
          <a:prstGeom prst="rect">
            <a:avLst/>
          </a:prstGeom>
          <a:noFill/>
          <a:ln/>
        </p:spPr>
        <p:txBody>
          <a:bodyPr wrap="square" lIns="0" tIns="0" rIns="0" bIns="0" rtlCol="0" anchor="ctr"/>
          <a:lstStyle/>
          <a:p>
            <a:pPr indent="0" marL="0">
              <a:buNone/>
            </a:pPr>
            <a:r>
              <a:rPr lang="en-US" sz="2600" b="1" dirty="0">
                <a:solidFill>
                  <a:schemeClr val="tx1"/>
                </a:solidFill>
              </a:rPr>
              <a:t>0 of 4,494</a:t>
            </a:r>
            <a:endParaRPr lang="en-US" sz="2600" dirty="0"/>
          </a:p>
        </p:txBody>
      </p:sp>
      <p:sp>
        <p:nvSpPr>
          <p:cNvPr id="12" name="Fact text 3"/>
          <p:cNvSpPr txBox="1"/>
          <p:nvPr/>
        </p:nvSpPr>
        <p:spPr>
          <a:xfrm>
            <a:off x="6272784" y="3749040"/>
            <a:ext cx="2286000" cy="548640"/>
          </a:xfrm>
          <a:prstGeom prst="rect">
            <a:avLst/>
          </a:prstGeom>
          <a:noFill/>
          <a:ln/>
        </p:spPr>
        <p:txBody>
          <a:bodyPr wrap="square" lIns="0" tIns="0" rIns="0" bIns="0" rtlCol="0" anchor="t"/>
          <a:lstStyle/>
          <a:p>
            <a:pPr indent="0" marL="0">
              <a:buNone/>
            </a:pPr>
            <a:r>
              <a:rPr lang="en-US" sz="1250" dirty="0">
                <a:solidFill>
                  <a:schemeClr val="accent4"/>
                </a:solidFill>
              </a:rPr>
              <a:t>rows where net + tax + shipping ≠ total</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A flat €1,000 rule makes almost everyone "top"</a:t>
            </a:r>
            <a:endParaRPr lang="en-US" sz="2600" dirty="0"/>
          </a:p>
        </p:txBody>
      </p:sp>
      <p:sp>
        <p:nvSpPr>
          <p:cNvPr id="3" name="59% of customers are &quot;VIP&quot; frame"/>
          <p:cNvSpPr/>
          <p:nvPr/>
        </p:nvSpPr>
        <p:spPr>
          <a:xfrm>
            <a:off x="457200" y="1097280"/>
            <a:ext cx="4023360" cy="2158955"/>
          </a:xfrm>
          <a:prstGeom prst="rect">
            <a:avLst/>
          </a:prstGeom>
          <a:solidFill>
            <a:schemeClr val="bg1"/>
          </a:solidFill>
          <a:ln w="9525">
            <a:solidFill>
              <a:srgbClr val="D5DDE0"/>
            </a:solidFill>
            <a:prstDash val="solid"/>
          </a:ln>
        </p:spPr>
      </p:sp>
      <p:pic>
        <p:nvPicPr>
          <p:cNvPr id="4" name="Chart vip" descr="Databricks chart: 59% of customers are &quot;VIP&quot;">    </p:cNvPr>
          <p:cNvPicPr>
            <a:picLocks noChangeAspect="1"/>
          </p:cNvPicPr>
          <p:nvPr/>
        </p:nvPicPr>
        <p:blipFill>
          <a:blip r:embed="rId1"/>
          <a:stretch>
            <a:fillRect/>
          </a:stretch>
        </p:blipFill>
        <p:spPr>
          <a:xfrm>
            <a:off x="457200" y="1097280"/>
            <a:ext cx="4023360" cy="2158955"/>
          </a:xfrm>
          <a:prstGeom prst="rect">
            <a:avLst/>
          </a:prstGeom>
        </p:spPr>
      </p:pic>
      <p:sp>
        <p:nvSpPr>
          <p:cNvPr id="5" name="Chart title vip"/>
          <p:cNvSpPr txBox="1"/>
          <p:nvPr/>
        </p:nvSpPr>
        <p:spPr>
          <a:xfrm>
            <a:off x="457200" y="3301955"/>
            <a:ext cx="4023360" cy="320040"/>
          </a:xfrm>
          <a:prstGeom prst="rect">
            <a:avLst/>
          </a:prstGeom>
          <a:noFill/>
          <a:ln/>
        </p:spPr>
        <p:txBody>
          <a:bodyPr wrap="square" lIns="0" tIns="0" rIns="0" bIns="0" rtlCol="0" anchor="ctr"/>
          <a:lstStyle/>
          <a:p>
            <a:pPr indent="0" marL="0">
              <a:buNone/>
            </a:pPr>
            <a:r>
              <a:rPr lang="en-US" sz="1500" b="1" dirty="0">
                <a:solidFill>
                  <a:schemeClr val="accent1"/>
                </a:solidFill>
              </a:rPr>
              <a:t>59% of customers are "VIP"</a:t>
            </a:r>
            <a:endParaRPr lang="en-US" sz="1500" dirty="0"/>
          </a:p>
        </p:txBody>
      </p:sp>
      <p:sp>
        <p:nvSpPr>
          <p:cNvPr id="6" name="Chart sub vip"/>
          <p:cNvSpPr txBox="1"/>
          <p:nvPr/>
        </p:nvSpPr>
        <p:spPr>
          <a:xfrm>
            <a:off x="457200" y="3621995"/>
            <a:ext cx="4023360" cy="274320"/>
          </a:xfrm>
          <a:prstGeom prst="rect">
            <a:avLst/>
          </a:prstGeom>
          <a:noFill/>
          <a:ln/>
        </p:spPr>
        <p:txBody>
          <a:bodyPr wrap="square" lIns="0" tIns="0" rIns="0" bIns="0" rtlCol="0" anchor="ctr"/>
          <a:lstStyle/>
          <a:p>
            <a:pPr indent="0" marL="0">
              <a:buNone/>
            </a:pPr>
            <a:r>
              <a:rPr lang="en-US" sz="1200" dirty="0">
                <a:solidFill>
                  <a:schemeClr val="accent4"/>
                </a:solidFill>
              </a:rPr>
              <a:t>Course view: spent over €1,000 = VIP</a:t>
            </a:r>
            <a:endParaRPr lang="en-US" sz="1200" dirty="0"/>
          </a:p>
        </p:txBody>
      </p:sp>
      <p:sp>
        <p:nvSpPr>
          <p:cNvPr id="7" name="94% of products are &quot;High Performance&quot; frame"/>
          <p:cNvSpPr/>
          <p:nvPr/>
        </p:nvSpPr>
        <p:spPr>
          <a:xfrm>
            <a:off x="4663440" y="1097280"/>
            <a:ext cx="4023360" cy="2158955"/>
          </a:xfrm>
          <a:prstGeom prst="rect">
            <a:avLst/>
          </a:prstGeom>
          <a:solidFill>
            <a:schemeClr val="bg1"/>
          </a:solidFill>
          <a:ln w="9525">
            <a:solidFill>
              <a:srgbClr val="D5DDE0"/>
            </a:solidFill>
            <a:prstDash val="solid"/>
          </a:ln>
        </p:spPr>
      </p:sp>
      <p:pic>
        <p:nvPicPr>
          <p:cNvPr id="8" name="Chart high" descr="Databricks chart: 94% of products are &quot;High Performance&quot;">    </p:cNvPr>
          <p:cNvPicPr>
            <a:picLocks noChangeAspect="1"/>
          </p:cNvPicPr>
          <p:nvPr/>
        </p:nvPicPr>
        <p:blipFill>
          <a:blip r:embed="rId2"/>
          <a:stretch>
            <a:fillRect/>
          </a:stretch>
        </p:blipFill>
        <p:spPr>
          <a:xfrm>
            <a:off x="4663440" y="1097280"/>
            <a:ext cx="4023360" cy="2158955"/>
          </a:xfrm>
          <a:prstGeom prst="rect">
            <a:avLst/>
          </a:prstGeom>
        </p:spPr>
      </p:pic>
      <p:sp>
        <p:nvSpPr>
          <p:cNvPr id="9" name="Chart title high"/>
          <p:cNvSpPr txBox="1"/>
          <p:nvPr/>
        </p:nvSpPr>
        <p:spPr>
          <a:xfrm>
            <a:off x="4663440" y="3301955"/>
            <a:ext cx="4023360" cy="320040"/>
          </a:xfrm>
          <a:prstGeom prst="rect">
            <a:avLst/>
          </a:prstGeom>
          <a:noFill/>
          <a:ln/>
        </p:spPr>
        <p:txBody>
          <a:bodyPr wrap="square" lIns="0" tIns="0" rIns="0" bIns="0" rtlCol="0" anchor="ctr"/>
          <a:lstStyle/>
          <a:p>
            <a:pPr indent="0" marL="0">
              <a:buNone/>
            </a:pPr>
            <a:r>
              <a:rPr lang="en-US" sz="1500" b="1" dirty="0">
                <a:solidFill>
                  <a:schemeClr val="accent1"/>
                </a:solidFill>
              </a:rPr>
              <a:t>94% of products are "High Performance"</a:t>
            </a:r>
            <a:endParaRPr lang="en-US" sz="1500" dirty="0"/>
          </a:p>
        </p:txBody>
      </p:sp>
      <p:sp>
        <p:nvSpPr>
          <p:cNvPr id="10" name="Chart sub high"/>
          <p:cNvSpPr txBox="1"/>
          <p:nvPr/>
        </p:nvSpPr>
        <p:spPr>
          <a:xfrm>
            <a:off x="4663440" y="3621995"/>
            <a:ext cx="4023360" cy="274320"/>
          </a:xfrm>
          <a:prstGeom prst="rect">
            <a:avLst/>
          </a:prstGeom>
          <a:noFill/>
          <a:ln/>
        </p:spPr>
        <p:txBody>
          <a:bodyPr wrap="square" lIns="0" tIns="0" rIns="0" bIns="0" rtlCol="0" anchor="ctr"/>
          <a:lstStyle/>
          <a:p>
            <a:pPr indent="0" marL="0">
              <a:buNone/>
            </a:pPr>
            <a:r>
              <a:rPr lang="en-US" sz="1200" dirty="0">
                <a:solidFill>
                  <a:schemeClr val="accent4"/>
                </a:solidFill>
              </a:rPr>
              <a:t>Course exercise: €1,000 or more = High</a:t>
            </a:r>
            <a:endParaRPr lang="en-US" sz="1200" dirty="0"/>
          </a:p>
        </p:txBody>
      </p:sp>
      <p:sp>
        <p:nvSpPr>
          <p:cNvPr id="11" name="Fix strip"/>
          <p:cNvSpPr/>
          <p:nvPr/>
        </p:nvSpPr>
        <p:spPr>
          <a:xfrm>
            <a:off x="457200" y="4114800"/>
            <a:ext cx="8229600" cy="457200"/>
          </a:xfrm>
          <a:prstGeom prst="roundRect">
            <a:avLst>
              <a:gd name="adj" fmla="val 16000"/>
            </a:avLst>
          </a:prstGeom>
          <a:solidFill>
            <a:schemeClr val="tx2"/>
          </a:solidFill>
          <a:ln w="12700">
            <a:solidFill>
              <a:schemeClr val="tx2"/>
            </a:solidFill>
            <a:prstDash val="solid"/>
          </a:ln>
        </p:spPr>
      </p:sp>
      <p:sp>
        <p:nvSpPr>
          <p:cNvPr id="12" name="Fix text"/>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350" b="1" dirty="0">
                <a:solidFill>
                  <a:schemeClr val="bg1"/>
                </a:solidFill>
              </a:rPr>
              <a:t>Fix: rank instead of a fixed amount. </a:t>
            </a:r>
            <a:pPr indent="0" marL="0">
              <a:buNone/>
            </a:pPr>
            <a:r>
              <a:rPr lang="en-US" sz="1350" dirty="0">
                <a:solidFill>
                  <a:schemeClr val="accent5"/>
                </a:solidFill>
              </a:rPr>
              <a:t>Top 20% = 160 customers and 50 products, a segment that actually separates.</a:t>
            </a:r>
            <a:endParaRPr lang="en-US" sz="13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Four fixes, each checked against the raw tables</a:t>
            </a:r>
            <a:endParaRPr lang="en-US" sz="2600" dirty="0"/>
          </a:p>
        </p:txBody>
      </p:sp>
      <p:graphicFrame>
        <p:nvGraphicFramePr>
          <p:cNvPr id="8" name="Fixes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65960"/>
                <a:gridCol w="2057400"/>
                <a:gridCol w="2377440"/>
                <a:gridCol w="1828800"/>
              </a:tblGrid>
              <a:tr h="457200">
                <a:tc>
                  <a:txBody>
                    <a:bodyPr/>
                    <a:lstStyle/>
                    <a:p>
                      <a:pPr indent="0" marL="0">
                        <a:buNone/>
                      </a:pPr>
                      <a:r>
                        <a:rPr lang="en-US" sz="1250" b="1" dirty="0">
                          <a:solidFill>
                            <a:srgbClr val="FFFFFF"/>
                          </a:solidFill>
                        </a:rPr>
                        <a:t>Course SQL</a:t>
                      </a:r>
                      <a:endParaRPr lang="en-US" sz="125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1B3139"/>
                    </a:solidFill>
                  </a:tcPr>
                </a:tc>
                <a:tc>
                  <a:txBody>
                    <a:bodyPr/>
                    <a:lstStyle/>
                    <a:p>
                      <a:pPr indent="0" marL="0">
                        <a:buNone/>
                      </a:pPr>
                      <a:r>
                        <a:rPr lang="en-US" sz="1250" b="1" dirty="0">
                          <a:solidFill>
                            <a:srgbClr val="FFFFFF"/>
                          </a:solidFill>
                        </a:rPr>
                        <a:t>Problem</a:t>
                      </a:r>
                      <a:endParaRPr lang="en-US" sz="125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1B3139"/>
                    </a:solidFill>
                  </a:tcPr>
                </a:tc>
                <a:tc>
                  <a:txBody>
                    <a:bodyPr/>
                    <a:lstStyle/>
                    <a:p>
                      <a:pPr indent="0" marL="0">
                        <a:buNone/>
                      </a:pPr>
                      <a:r>
                        <a:rPr lang="en-US" sz="1250" b="1" dirty="0">
                          <a:solidFill>
                            <a:srgbClr val="FFFFFF"/>
                          </a:solidFill>
                        </a:rPr>
                        <a:t>My fix</a:t>
                      </a:r>
                      <a:endParaRPr lang="en-US" sz="125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1B3139"/>
                    </a:solidFill>
                  </a:tcPr>
                </a:tc>
                <a:tc>
                  <a:txBody>
                    <a:bodyPr/>
                    <a:lstStyle/>
                    <a:p>
                      <a:pPr indent="0" marL="0">
                        <a:buNone/>
                      </a:pPr>
                      <a:r>
                        <a:rPr lang="en-US" sz="1250" b="1" dirty="0">
                          <a:solidFill>
                            <a:srgbClr val="FFFFFF"/>
                          </a:solidFill>
                        </a:rPr>
                        <a:t>Result</a:t>
                      </a:r>
                      <a:endParaRPr lang="en-US" sz="125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1B3139"/>
                    </a:solidFill>
                  </a:tcPr>
                </a:tc>
              </a:tr>
              <a:tr h="457200">
                <a:tc>
                  <a:txBody>
                    <a:bodyPr/>
                    <a:lstStyle/>
                    <a:p>
                      <a:pPr indent="0" marL="0">
                        <a:buNone/>
                      </a:pPr>
                      <a:r>
                        <a:rPr lang="en-US" sz="1200" dirty="0">
                          <a:solidFill>
                            <a:srgbClr val="1B2A30"/>
                          </a:solidFill>
                          <a:latin typeface="Consolas" pitchFamily="34" charset="0"/>
                          <a:ea typeface="Consolas" pitchFamily="34" charset="-122"/>
                          <a:cs typeface="Consolas" pitchFamily="34" charset="-120"/>
                        </a:rPr>
                        <a:t>COUNT(order_id)</a:t>
                      </a:r>
                      <a:endParaRPr lang="en-US" sz="1200" dirty="0">
                        <a:latin typeface="Consolas" charset="0"/>
                        <a:ea typeface="Consolas" charset="0"/>
                        <a:cs typeface="Consolas" charset="0"/>
                      </a:endParaRPr>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rPr>
                        <a:t>Counts product lines</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latin typeface="Consolas" pitchFamily="34" charset="0"/>
                          <a:ea typeface="Consolas" pitchFamily="34" charset="-122"/>
                          <a:cs typeface="Consolas" pitchFamily="34" charset="-120"/>
                        </a:rPr>
                        <a:t>COUNT(DISTINCT order_number)</a:t>
                      </a:r>
                      <a:endParaRPr lang="en-US" sz="1200" dirty="0">
                        <a:latin typeface="Consolas" charset="0"/>
                        <a:ea typeface="Consolas" charset="0"/>
                        <a:cs typeface="Consolas" charset="0"/>
                      </a:endParaRPr>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6F"/>
                          </a:solidFill>
                        </a:rPr>
                        <a:t>2,453 orders</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A30"/>
                          </a:solidFill>
                          <a:latin typeface="Consolas" pitchFamily="34" charset="0"/>
                          <a:ea typeface="Consolas" pitchFamily="34" charset="-122"/>
                          <a:cs typeface="Consolas" pitchFamily="34" charset="-120"/>
                        </a:rPr>
                        <a:t>SUM(total_amount)</a:t>
                      </a:r>
                      <a:endParaRPr lang="en-US" sz="1200" dirty="0">
                        <a:latin typeface="Consolas" charset="0"/>
                        <a:ea typeface="Consolas" charset="0"/>
                        <a:cs typeface="Consolas" charset="0"/>
                      </a:endParaRPr>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rPr>
                        <a:t>Adds tax and shipping</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latin typeface="Consolas" pitchFamily="34" charset="0"/>
                          <a:ea typeface="Consolas" pitchFamily="34" charset="-122"/>
                          <a:cs typeface="Consolas" pitchFamily="34" charset="-120"/>
                        </a:rPr>
                        <a:t>line_subtotal − discount</a:t>
                      </a:r>
                      <a:endParaRPr lang="en-US" sz="1200" dirty="0">
                        <a:latin typeface="Consolas" charset="0"/>
                        <a:ea typeface="Consolas" charset="0"/>
                        <a:cs typeface="Consolas" charset="0"/>
                      </a:endParaRPr>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6F"/>
                          </a:solidFill>
                        </a:rPr>
                        <a:t>€1.50M net sales</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A30"/>
                          </a:solidFill>
                        </a:rPr>
                        <a:t>&gt; €1,000 = VIP</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rPr>
                        <a:t>59% of customers are VIP</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rPr>
                        <a:t>NTILE ranking: top 20%</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6F"/>
                          </a:solidFill>
                        </a:rPr>
                        <a:t>160 customers</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A30"/>
                          </a:solidFill>
                          <a:latin typeface="Consolas" pitchFamily="34" charset="0"/>
                          <a:ea typeface="Consolas" pitchFamily="34" charset="-122"/>
                          <a:cs typeface="Consolas" pitchFamily="34" charset="-120"/>
                        </a:rPr>
                        <a:t>GROUP BY order_at</a:t>
                      </a:r>
                      <a:endParaRPr lang="en-US" sz="1200" dirty="0">
                        <a:latin typeface="Consolas" charset="0"/>
                        <a:ea typeface="Consolas" charset="0"/>
                        <a:cs typeface="Consolas" charset="0"/>
                      </a:endParaRPr>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rPr>
                        <a:t>One row per order time</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dirty="0">
                          <a:solidFill>
                            <a:srgbClr val="1B2A30"/>
                          </a:solidFill>
                        </a:rPr>
                        <a:t>One row per customer</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c>
                  <a:txBody>
                    <a:bodyPr/>
                    <a:lstStyle/>
                    <a:p>
                      <a:pPr indent="0" marL="0">
                        <a:buNone/>
                      </a:pPr>
                      <a:r>
                        <a:rPr lang="en-US" sz="1200" b="1" dirty="0">
                          <a:solidFill>
                            <a:srgbClr val="2E8B6F"/>
                          </a:solidFill>
                        </a:rPr>
                        <a:t>800 rows, 1 each</a:t>
                      </a:r>
                      <a:endParaRPr lang="en-US" sz="1200" dirty="0"/>
                    </a:p>
                  </a:txBody>
                  <a:tcPr marL="91440" marR="91440" marT="36576" marB="36576" anchor="ctr">
                    <a:lnL w="9525" cap="flat" cmpd="sng" algn="ctr">
                      <a:solidFill>
                        <a:srgbClr val="DCE3E5"/>
                      </a:solidFill>
                      <a:prstDash val="solid"/>
                      <a:round/>
                      <a:headEnd type="none" w="med" len="med"/>
                      <a:tailEnd type="none" w="med" len="med"/>
                    </a:lnL>
                    <a:lnR w="9525" cap="flat" cmpd="sng" algn="ctr">
                      <a:solidFill>
                        <a:srgbClr val="DCE3E5"/>
                      </a:solidFill>
                      <a:prstDash val="solid"/>
                      <a:round/>
                      <a:headEnd type="none" w="med" len="med"/>
                      <a:tailEnd type="none" w="med" len="med"/>
                    </a:lnR>
                    <a:lnT w="9525" cap="flat" cmpd="sng" algn="ctr">
                      <a:solidFill>
                        <a:srgbClr val="DCE3E5"/>
                      </a:solidFill>
                      <a:prstDash val="solid"/>
                      <a:round/>
                      <a:headEnd type="none" w="med" len="med"/>
                      <a:tailEnd type="none" w="med" len="med"/>
                    </a:lnT>
                    <a:lnB w="9525" cap="flat" cmpd="sng" algn="ctr">
                      <a:solidFill>
                        <a:srgbClr val="DCE3E5"/>
                      </a:solidFill>
                      <a:prstDash val="solid"/>
                      <a:round/>
                      <a:headEnd type="none" w="med" len="med"/>
                      <a:tailEnd type="none" w="med" len="med"/>
                    </a:lnB>
                    <a:solidFill>
                      <a:srgbClr val="FFFFFF"/>
                    </a:solidFill>
                  </a:tcPr>
                </a:tc>
              </a:tr>
            </a:tbl>
          </a:graphicData>
        </a:graphic>
      </p:graphicFrame>
      <p:sp>
        <p:nvSpPr>
          <p:cNvPr id="4" name="Fixes note"/>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i="1" dirty="0">
                <a:solidFill>
                  <a:schemeClr val="accent4"/>
                </a:solidFill>
              </a:rPr>
              <a:t>The course versions stay unchanged in the repo next to my versions, with the expected result written under every corrected query.</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After the fix: 160 customers bring 60% of sales</a:t>
            </a:r>
            <a:endParaRPr lang="en-US" sz="2600" dirty="0"/>
          </a:p>
        </p:txBody>
      </p:sp>
      <p:graphicFrame>
        <p:nvGraphicFramePr>
          <p:cNvPr id="3" name="Segments chart" descr=""/>
          <p:cNvGraphicFramePr/>
          <p:nvPr/>
        </p:nvGraphicFramePr>
        <p:xfrm>
          <a:off x="457200" y="1097280"/>
          <a:ext cx="402336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Yearly chart" descr=""/>
          <p:cNvGraphicFramePr/>
          <p:nvPr/>
        </p:nvGraphicFramePr>
        <p:xfrm>
          <a:off x="4663440" y="1097280"/>
          <a:ext cx="4023360" cy="3017520"/>
        </p:xfrm>
        <a:graphic xmlns:a="http://schemas.openxmlformats.org/drawingml/2006/main">
          <a:graphicData uri="http://schemas.openxmlformats.org/drawingml/2006/chart">
            <c:chart xmlns:c="http://schemas.openxmlformats.org/drawingml/2006/chart" r:id="rId2"/>
          </a:graphicData>
        </a:graphic>
      </p:graphicFrame>
      <p:sp>
        <p:nvSpPr>
          <p:cNvPr id="5" name="KPI line"/>
          <p:cNvSpPr txBox="1"/>
          <p:nvPr/>
        </p:nvSpPr>
        <p:spPr>
          <a:xfrm>
            <a:off x="457200" y="4224528"/>
            <a:ext cx="8229600" cy="320040"/>
          </a:xfrm>
          <a:prstGeom prst="rect">
            <a:avLst/>
          </a:prstGeom>
          <a:noFill/>
          <a:ln/>
        </p:spPr>
        <p:txBody>
          <a:bodyPr wrap="square" lIns="0" tIns="0" rIns="0" bIns="0" rtlCol="0" anchor="ctr"/>
          <a:lstStyle/>
          <a:p>
            <a:pPr indent="0" marL="0">
              <a:buNone/>
            </a:pPr>
            <a:r>
              <a:rPr lang="en-US" sz="1300" b="1" dirty="0">
                <a:solidFill>
                  <a:schemeClr val="tx1"/>
                </a:solidFill>
              </a:rPr>
              <a:t>€612.90 </a:t>
            </a:r>
            <a:pPr indent="0" marL="0">
              <a:buNone/>
            </a:pPr>
            <a:r>
              <a:rPr lang="en-US" sz="1300" dirty="0">
                <a:solidFill>
                  <a:schemeClr val="accent4"/>
                </a:solidFill>
              </a:rPr>
              <a:t>average order   ·   </a:t>
            </a:r>
            <a:pPr indent="0" marL="0">
              <a:buNone/>
            </a:pPr>
            <a:r>
              <a:rPr lang="en-US" sz="1300" b="1" dirty="0">
                <a:solidFill>
                  <a:schemeClr val="tx1"/>
                </a:solidFill>
              </a:rPr>
              <a:t>25.8% </a:t>
            </a:r>
            <a:pPr indent="0" marL="0">
              <a:buNone/>
            </a:pPr>
            <a:r>
              <a:rPr lang="en-US" sz="1300" dirty="0">
                <a:solidFill>
                  <a:schemeClr val="accent4"/>
                </a:solidFill>
              </a:rPr>
              <a:t>gross margin   ·   </a:t>
            </a:r>
            <a:pPr indent="0" marL="0">
              <a:buNone/>
            </a:pPr>
            <a:r>
              <a:rPr lang="en-US" sz="1300" b="1" dirty="0">
                <a:solidFill>
                  <a:schemeClr val="tx1"/>
                </a:solidFill>
              </a:rPr>
              <a:t>63% </a:t>
            </a:r>
            <a:pPr indent="0" marL="0">
              <a:buNone/>
            </a:pPr>
            <a:r>
              <a:rPr lang="en-US" sz="1300" dirty="0">
                <a:solidFill>
                  <a:schemeClr val="accent4"/>
                </a:solidFill>
              </a:rPr>
              <a:t>of four years of sales came in 2025</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Where sales come from</a:t>
            </a:r>
            <a:endParaRPr lang="en-US" sz="2600" dirty="0"/>
          </a:p>
        </p:txBody>
      </p:sp>
      <p:sp>
        <p:nvSpPr>
          <p:cNvPr id="3" name="Electronics leads with 39% of sales frame"/>
          <p:cNvSpPr/>
          <p:nvPr/>
        </p:nvSpPr>
        <p:spPr>
          <a:xfrm>
            <a:off x="457200" y="1143000"/>
            <a:ext cx="4023360" cy="2158955"/>
          </a:xfrm>
          <a:prstGeom prst="rect">
            <a:avLst/>
          </a:prstGeom>
          <a:solidFill>
            <a:schemeClr val="bg1"/>
          </a:solidFill>
          <a:ln w="9525">
            <a:solidFill>
              <a:srgbClr val="D5DDE0"/>
            </a:solidFill>
            <a:prstDash val="solid"/>
          </a:ln>
        </p:spPr>
      </p:sp>
      <p:pic>
        <p:nvPicPr>
          <p:cNvPr id="4" name="Chart cat" descr="Databricks chart: Electronics leads with 39% of sales">    </p:cNvPr>
          <p:cNvPicPr>
            <a:picLocks noChangeAspect="1"/>
          </p:cNvPicPr>
          <p:nvPr/>
        </p:nvPicPr>
        <p:blipFill>
          <a:blip r:embed="rId1"/>
          <a:stretch>
            <a:fillRect/>
          </a:stretch>
        </p:blipFill>
        <p:spPr>
          <a:xfrm>
            <a:off x="457200" y="1143000"/>
            <a:ext cx="4023360" cy="2158955"/>
          </a:xfrm>
          <a:prstGeom prst="rect">
            <a:avLst/>
          </a:prstGeom>
        </p:spPr>
      </p:pic>
      <p:sp>
        <p:nvSpPr>
          <p:cNvPr id="5" name="Chart title cat"/>
          <p:cNvSpPr txBox="1"/>
          <p:nvPr/>
        </p:nvSpPr>
        <p:spPr>
          <a:xfrm>
            <a:off x="457200" y="3365963"/>
            <a:ext cx="4023360" cy="320040"/>
          </a:xfrm>
          <a:prstGeom prst="rect">
            <a:avLst/>
          </a:prstGeom>
          <a:noFill/>
          <a:ln/>
        </p:spPr>
        <p:txBody>
          <a:bodyPr wrap="square" lIns="0" tIns="0" rIns="0" bIns="0" rtlCol="0" anchor="ctr"/>
          <a:lstStyle/>
          <a:p>
            <a:pPr indent="0" marL="0">
              <a:buNone/>
            </a:pPr>
            <a:r>
              <a:rPr lang="en-US" sz="1400" b="1" dirty="0">
                <a:solidFill>
                  <a:schemeClr val="tx1"/>
                </a:solidFill>
              </a:rPr>
              <a:t>Electronics leads with 39% of sales</a:t>
            </a:r>
            <a:endParaRPr lang="en-US" sz="1400" dirty="0"/>
          </a:p>
        </p:txBody>
      </p:sp>
      <p:sp>
        <p:nvSpPr>
          <p:cNvPr id="6" name="Italy sells most, Switzerland least frame"/>
          <p:cNvSpPr/>
          <p:nvPr/>
        </p:nvSpPr>
        <p:spPr>
          <a:xfrm>
            <a:off x="4663440" y="1143000"/>
            <a:ext cx="4023360" cy="2158955"/>
          </a:xfrm>
          <a:prstGeom prst="rect">
            <a:avLst/>
          </a:prstGeom>
          <a:solidFill>
            <a:schemeClr val="bg1"/>
          </a:solidFill>
          <a:ln w="9525">
            <a:solidFill>
              <a:srgbClr val="D5DDE0"/>
            </a:solidFill>
            <a:prstDash val="solid"/>
          </a:ln>
        </p:spPr>
      </p:sp>
      <p:pic>
        <p:nvPicPr>
          <p:cNvPr id="7" name="Chart country" descr="Databricks chart: Italy sells most, Switzerland least">    </p:cNvPr>
          <p:cNvPicPr>
            <a:picLocks noChangeAspect="1"/>
          </p:cNvPicPr>
          <p:nvPr/>
        </p:nvPicPr>
        <p:blipFill>
          <a:blip r:embed="rId2"/>
          <a:stretch>
            <a:fillRect/>
          </a:stretch>
        </p:blipFill>
        <p:spPr>
          <a:xfrm>
            <a:off x="4663440" y="1143000"/>
            <a:ext cx="4023360" cy="2158955"/>
          </a:xfrm>
          <a:prstGeom prst="rect">
            <a:avLst/>
          </a:prstGeom>
        </p:spPr>
      </p:pic>
      <p:sp>
        <p:nvSpPr>
          <p:cNvPr id="8" name="Chart title country"/>
          <p:cNvSpPr txBox="1"/>
          <p:nvPr/>
        </p:nvSpPr>
        <p:spPr>
          <a:xfrm>
            <a:off x="4663440" y="3365963"/>
            <a:ext cx="4023360" cy="320040"/>
          </a:xfrm>
          <a:prstGeom prst="rect">
            <a:avLst/>
          </a:prstGeom>
          <a:noFill/>
          <a:ln/>
        </p:spPr>
        <p:txBody>
          <a:bodyPr wrap="square" lIns="0" tIns="0" rIns="0" bIns="0" rtlCol="0" anchor="ctr"/>
          <a:lstStyle/>
          <a:p>
            <a:pPr indent="0" marL="0">
              <a:buNone/>
            </a:pPr>
            <a:r>
              <a:rPr lang="en-US" sz="1400" b="1" dirty="0">
                <a:solidFill>
                  <a:schemeClr val="tx1"/>
                </a:solidFill>
              </a:rPr>
              <a:t>Italy sells most, Switzerland least</a:t>
            </a:r>
            <a:endParaRPr lang="en-US" sz="1400" dirty="0"/>
          </a:p>
        </p:txBody>
      </p:sp>
      <p:sp>
        <p:nvSpPr>
          <p:cNvPr id="9" name="Charts note"/>
          <p:cNvSpPr txBox="1"/>
          <p:nvPr/>
        </p:nvSpPr>
        <p:spPr>
          <a:xfrm>
            <a:off x="457200" y="3794760"/>
            <a:ext cx="8229600" cy="640080"/>
          </a:xfrm>
          <a:prstGeom prst="rect">
            <a:avLst/>
          </a:prstGeom>
          <a:noFill/>
          <a:ln/>
        </p:spPr>
        <p:txBody>
          <a:bodyPr wrap="square" lIns="0" tIns="0" rIns="0" bIns="0" rtlCol="0" anchor="t"/>
          <a:lstStyle/>
          <a:p>
            <a:pPr indent="0" marL="0">
              <a:buNone/>
            </a:pPr>
            <a:r>
              <a:rPr lang="en-US" sz="1250" i="1" dirty="0">
                <a:solidFill>
                  <a:schemeClr val="accent4"/>
                </a:solidFill>
              </a:rPr>
              <a:t>Physical stores bring 51% of sales and online 49%. These charts come from my Databricks SQL editor on the course queries, so amounts include tax; on net sales the shares and rankings hold.</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Next steps</a:t>
            </a:r>
            <a:endParaRPr lang="en-US" sz="2600" dirty="0"/>
          </a:p>
        </p:txBody>
      </p:sp>
      <p:sp>
        <p:nvSpPr>
          <p:cNvPr id="3" name="Next 1 disc"/>
          <p:cNvSpPr/>
          <p:nvPr/>
        </p:nvSpPr>
        <p:spPr>
          <a:xfrm>
            <a:off x="548640" y="1188720"/>
            <a:ext cx="548640" cy="548640"/>
          </a:xfrm>
          <a:prstGeom prst="ellipse">
            <a:avLst/>
          </a:prstGeom>
          <a:solidFill>
            <a:schemeClr val="accent2"/>
          </a:solidFill>
          <a:ln w="12700">
            <a:solidFill>
              <a:schemeClr val="accent2"/>
            </a:solidFill>
            <a:prstDash val="solid"/>
          </a:ln>
        </p:spPr>
      </p:sp>
      <p:pic>
        <p:nvPicPr>
          <p:cNvPr id="4" name="Next 1 icon" descr="Next 1">    </p:cNvPr>
          <p:cNvPicPr>
            <a:picLocks noChangeAspect="1"/>
          </p:cNvPicPr>
          <p:nvPr/>
        </p:nvPicPr>
        <p:blipFill>
          <a:blip r:embed="rId1"/>
          <a:stretch>
            <a:fillRect/>
          </a:stretch>
        </p:blipFill>
        <p:spPr>
          <a:xfrm>
            <a:off x="680314" y="1320394"/>
            <a:ext cx="285293" cy="285293"/>
          </a:xfrm>
          <a:prstGeom prst="rect">
            <a:avLst/>
          </a:prstGeom>
        </p:spPr>
      </p:pic>
      <p:sp>
        <p:nvSpPr>
          <p:cNvPr id="5" name="Next text 1"/>
          <p:cNvSpPr txBox="1"/>
          <p:nvPr/>
        </p:nvSpPr>
        <p:spPr>
          <a:xfrm>
            <a:off x="1325880" y="1170432"/>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1  </a:t>
            </a:r>
            <a:pPr indent="0" marL="0">
              <a:buNone/>
            </a:pPr>
            <a:r>
              <a:rPr lang="en-US" sz="1500" dirty="0">
                <a:solidFill>
                  <a:schemeClr val="tx1"/>
                </a:solidFill>
              </a:rPr>
              <a:t>Protect the top 160 customers with a retention offer: they hold 60% of net sales.</a:t>
            </a:r>
            <a:endParaRPr lang="en-US" sz="1500" dirty="0"/>
          </a:p>
        </p:txBody>
      </p:sp>
      <p:sp>
        <p:nvSpPr>
          <p:cNvPr id="6" name="Next 2 disc"/>
          <p:cNvSpPr/>
          <p:nvPr/>
        </p:nvSpPr>
        <p:spPr>
          <a:xfrm>
            <a:off x="548640" y="1993392"/>
            <a:ext cx="548640" cy="548640"/>
          </a:xfrm>
          <a:prstGeom prst="ellipse">
            <a:avLst/>
          </a:prstGeom>
          <a:solidFill>
            <a:schemeClr val="tx2"/>
          </a:solidFill>
          <a:ln w="12700">
            <a:solidFill>
              <a:schemeClr val="tx2"/>
            </a:solidFill>
            <a:prstDash val="solid"/>
          </a:ln>
        </p:spPr>
      </p:sp>
      <p:pic>
        <p:nvPicPr>
          <p:cNvPr id="7" name="Next 2 icon" descr="Next 2">    </p:cNvPr>
          <p:cNvPicPr>
            <a:picLocks noChangeAspect="1"/>
          </p:cNvPicPr>
          <p:nvPr/>
        </p:nvPicPr>
        <p:blipFill>
          <a:blip r:embed="rId2"/>
          <a:stretch>
            <a:fillRect/>
          </a:stretch>
        </p:blipFill>
        <p:spPr>
          <a:xfrm>
            <a:off x="680314" y="2125066"/>
            <a:ext cx="285293" cy="285293"/>
          </a:xfrm>
          <a:prstGeom prst="rect">
            <a:avLst/>
          </a:prstGeom>
        </p:spPr>
      </p:pic>
      <p:sp>
        <p:nvSpPr>
          <p:cNvPr id="8" name="Next text 2"/>
          <p:cNvSpPr txBox="1"/>
          <p:nvPr/>
        </p:nvSpPr>
        <p:spPr>
          <a:xfrm>
            <a:off x="1325880" y="1975104"/>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2  </a:t>
            </a:r>
            <a:pPr indent="0" marL="0">
              <a:buNone/>
            </a:pPr>
            <a:r>
              <a:rPr lang="en-US" sz="1500" dirty="0">
                <a:solidFill>
                  <a:schemeClr val="tx1"/>
                </a:solidFill>
              </a:rPr>
              <a:t>Rebuild the dashboard counters on the corrected view: distinct orders and net sales.</a:t>
            </a:r>
            <a:endParaRPr lang="en-US" sz="1500" dirty="0"/>
          </a:p>
        </p:txBody>
      </p:sp>
      <p:sp>
        <p:nvSpPr>
          <p:cNvPr id="9" name="Next 3 disc"/>
          <p:cNvSpPr/>
          <p:nvPr/>
        </p:nvSpPr>
        <p:spPr>
          <a:xfrm>
            <a:off x="548640" y="2798064"/>
            <a:ext cx="548640" cy="548640"/>
          </a:xfrm>
          <a:prstGeom prst="ellipse">
            <a:avLst/>
          </a:prstGeom>
          <a:solidFill>
            <a:schemeClr val="tx2"/>
          </a:solidFill>
          <a:ln w="12700">
            <a:solidFill>
              <a:schemeClr val="tx2"/>
            </a:solidFill>
            <a:prstDash val="solid"/>
          </a:ln>
        </p:spPr>
      </p:sp>
      <p:pic>
        <p:nvPicPr>
          <p:cNvPr id="10" name="Next 3 icon" descr="Next 3">    </p:cNvPr>
          <p:cNvPicPr>
            <a:picLocks noChangeAspect="1"/>
          </p:cNvPicPr>
          <p:nvPr/>
        </p:nvPicPr>
        <p:blipFill>
          <a:blip r:embed="rId3"/>
          <a:stretch>
            <a:fillRect/>
          </a:stretch>
        </p:blipFill>
        <p:spPr>
          <a:xfrm>
            <a:off x="680314" y="2929738"/>
            <a:ext cx="285293" cy="285293"/>
          </a:xfrm>
          <a:prstGeom prst="rect">
            <a:avLst/>
          </a:prstGeom>
        </p:spPr>
      </p:pic>
      <p:sp>
        <p:nvSpPr>
          <p:cNvPr id="11" name="Next text 3"/>
          <p:cNvSpPr txBox="1"/>
          <p:nvPr/>
        </p:nvSpPr>
        <p:spPr>
          <a:xfrm>
            <a:off x="1325880" y="2779776"/>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3  </a:t>
            </a:r>
            <a:pPr indent="0" marL="0">
              <a:buNone/>
            </a:pPr>
            <a:r>
              <a:rPr lang="en-US" sz="1500" dirty="0">
                <a:solidFill>
                  <a:schemeClr val="tx1"/>
                </a:solidFill>
              </a:rPr>
              <a:t>Fix the source: order-number dates disagree with order_at on 4,416 lines, and 377 sales predate the product launch.</a:t>
            </a:r>
            <a:endParaRPr lang="en-US" sz="1500" dirty="0"/>
          </a:p>
        </p:txBody>
      </p:sp>
      <p:sp>
        <p:nvSpPr>
          <p:cNvPr id="12" name="Next 4 disc"/>
          <p:cNvSpPr/>
          <p:nvPr/>
        </p:nvSpPr>
        <p:spPr>
          <a:xfrm>
            <a:off x="548640" y="3602736"/>
            <a:ext cx="548640" cy="548640"/>
          </a:xfrm>
          <a:prstGeom prst="ellipse">
            <a:avLst/>
          </a:prstGeom>
          <a:solidFill>
            <a:schemeClr val="tx2"/>
          </a:solidFill>
          <a:ln w="12700">
            <a:solidFill>
              <a:schemeClr val="tx2"/>
            </a:solidFill>
            <a:prstDash val="solid"/>
          </a:ln>
        </p:spPr>
      </p:sp>
      <p:pic>
        <p:nvPicPr>
          <p:cNvPr id="13" name="Next 4 icon" descr="Next 4">    </p:cNvPr>
          <p:cNvPicPr>
            <a:picLocks noChangeAspect="1"/>
          </p:cNvPicPr>
          <p:nvPr/>
        </p:nvPicPr>
        <p:blipFill>
          <a:blip r:embed="rId4"/>
          <a:stretch>
            <a:fillRect/>
          </a:stretch>
        </p:blipFill>
        <p:spPr>
          <a:xfrm>
            <a:off x="680314" y="3734410"/>
            <a:ext cx="285293" cy="285293"/>
          </a:xfrm>
          <a:prstGeom prst="rect">
            <a:avLst/>
          </a:prstGeom>
        </p:spPr>
      </p:pic>
      <p:sp>
        <p:nvSpPr>
          <p:cNvPr id="14" name="Next text 4"/>
          <p:cNvSpPr txBox="1"/>
          <p:nvPr/>
        </p:nvSpPr>
        <p:spPr>
          <a:xfrm>
            <a:off x="1325880" y="3584448"/>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4  </a:t>
            </a:r>
            <a:pPr indent="0" marL="0">
              <a:buNone/>
            </a:pPr>
            <a:r>
              <a:rPr lang="en-US" sz="1500" dirty="0">
                <a:solidFill>
                  <a:schemeClr val="tx1"/>
                </a:solidFill>
              </a:rPr>
              <a:t>Run the data-check query before every refresh, so a counting mistake never reaches a report.</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600" b="1" dirty="0">
                <a:solidFill>
                  <a:schemeClr val="bg1"/>
                </a:solidFill>
              </a:rPr>
              <a:t>Happy to walk you through the SQL</a:t>
            </a:r>
            <a:endParaRPr lang="en-US" sz="36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Course SQL and my corrected SQL sit side by side in the repo, with expected results under every query.</a:t>
            </a:r>
            <a:endParaRPr lang="en-US" sz="1800" dirty="0"/>
          </a:p>
        </p:txBody>
      </p:sp>
      <p:pic>
        <p:nvPicPr>
          <p:cNvPr id="4" name="Link icon 1" descr="github">    </p:cNvPr>
          <p:cNvPicPr>
            <a:picLocks noChangeAspect="1"/>
          </p:cNvPicPr>
          <p:nvPr/>
        </p:nvPicPr>
        <p:blipFill>
          <a:blip r:embed="rId1"/>
          <a:stretch>
            <a:fillRect/>
          </a:stretch>
        </p:blipFill>
        <p:spPr>
          <a:xfrm>
            <a:off x="548640" y="3739896"/>
            <a:ext cx="237744" cy="237744"/>
          </a:xfrm>
          <a:prstGeom prst="rect">
            <a:avLst/>
          </a:prstGeom>
        </p:spPr>
      </p:pic>
      <p:sp>
        <p:nvSpPr>
          <p:cNvPr id="5" name="Link 1">
            <a:hlinkClick r:id="rId2" tooltip=""/>
          </p:cNvPr>
          <p:cNvSpPr txBox="1"/>
          <p:nvPr/>
        </p:nvSpPr>
        <p:spPr>
          <a:xfrm>
            <a:off x="914400" y="3703320"/>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github.com/parthdhawan921-ops/databricks-sql-analytics</a:t>
            </a:r>
            <a:endParaRPr lang="en-US" sz="1400" dirty="0"/>
          </a:p>
        </p:txBody>
      </p:sp>
      <p:pic>
        <p:nvPicPr>
          <p:cNvPr id="6" name="Link icon 2" descr="link">    </p:cNvPr>
          <p:cNvPicPr>
            <a:picLocks noChangeAspect="1"/>
          </p:cNvPicPr>
          <p:nvPr/>
        </p:nvPicPr>
        <p:blipFill>
          <a:blip r:embed="rId3"/>
          <a:stretch>
            <a:fillRect/>
          </a:stretch>
        </p:blipFill>
        <p:spPr>
          <a:xfrm>
            <a:off x="548640" y="4123944"/>
            <a:ext cx="237744" cy="237744"/>
          </a:xfrm>
          <a:prstGeom prst="rect">
            <a:avLst/>
          </a:prstGeom>
        </p:spPr>
      </p:pic>
      <p:sp>
        <p:nvSpPr>
          <p:cNvPr id="7" name="Link 2">
            <a:hlinkClick r:id="rId4" tooltip=""/>
          </p:cNvPr>
          <p:cNvSpPr txBox="1"/>
          <p:nvPr/>
        </p:nvSpPr>
        <p:spPr>
          <a:xfrm>
            <a:off x="914400" y="4087368"/>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parthdhawan921-ops.github.io/Parth_Personal/#dbx</a:t>
            </a:r>
            <a:endParaRPr lang="en-US" sz="1400" dirty="0"/>
          </a:p>
        </p:txBody>
      </p:sp>
      <p:pic>
        <p:nvPicPr>
          <p:cNvPr id="8" name="Link icon 3" descr="mail">    </p:cNvPr>
          <p:cNvPicPr>
            <a:picLocks noChangeAspect="1"/>
          </p:cNvPicPr>
          <p:nvPr/>
        </p:nvPicPr>
        <p:blipFill>
          <a:blip r:embed="rId5"/>
          <a:stretch>
            <a:fillRect/>
          </a:stretch>
        </p:blipFill>
        <p:spPr>
          <a:xfrm>
            <a:off x="548640" y="4507992"/>
            <a:ext cx="237744" cy="237744"/>
          </a:xfrm>
          <a:prstGeom prst="rect">
            <a:avLst/>
          </a:prstGeom>
        </p:spPr>
      </p:pic>
      <p:sp>
        <p:nvSpPr>
          <p:cNvPr id="9" name="Link 3">
            <a:hlinkClick r:id="rId6" tooltip=""/>
          </p:cNvPr>
          <p:cNvSpPr txBox="1"/>
          <p:nvPr/>
        </p:nvSpPr>
        <p:spPr>
          <a:xfrm>
            <a:off x="914400" y="4471416"/>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6" invalidUrl="" action="" tgtFrame="" tooltip="" history="1" highlightClick="0" endSnd="0">
                  <a:extLst>
                    <a:ext uri="{A12FA001-AC4F-418D-AE19-62706E023703}">
                      <ahyp:hlinkClr xmlns:ahyp="http://schemas.microsoft.com/office/drawing/2018/hyperlinkcolor" val="tx"/>
                    </a:ext>
                  </a:extLst>
                </a:hlinkClick>
              </a:rPr>
              <a:t>parthdhawan921@gmail.com  ·  +91 70823 35959</a:t>
            </a:r>
            <a:endParaRPr lang="en-US" sz="1400" dirty="0"/>
          </a:p>
        </p:txBody>
      </p:sp>
    </p:spTree>
  </p:cSld>
  <p:clrMapOvr>
    <a:masterClrMapping/>
  </p:clrMapOvr>
</p:sld>
</file>

<file path=ppt/theme/theme1.xml><?xml version="1.0" encoding="utf-8"?>
<a:theme xmlns:a="http://schemas.openxmlformats.org/drawingml/2006/main" name="Lakehouse Slate">
  <a:themeElements>
    <a:clrScheme name="Lakehouse Slate">
      <a:dk1>
        <a:srgbClr val="1B2A30"/>
      </a:dk1>
      <a:lt1>
        <a:srgbClr val="FFFFFF"/>
      </a:lt1>
      <a:dk2>
        <a:srgbClr val="1B3139"/>
      </a:dk2>
      <a:lt2>
        <a:srgbClr val="F1F4F5"/>
      </a:lt2>
      <a:accent1>
        <a:srgbClr val="D94F3A"/>
      </a:accent1>
      <a:accent2>
        <a:srgbClr val="2E8B6F"/>
      </a:accent2>
      <a:accent3>
        <a:srgbClr val="E9A23B"/>
      </a:accent3>
      <a:accent4>
        <a:srgbClr val="5E6E73"/>
      </a:accent4>
      <a:accent5>
        <a:srgbClr val="9FC3BF"/>
      </a:accent5>
      <a:accent6>
        <a:srgbClr val="3A6EA5"/>
      </a:accent6>
      <a:hlink>
        <a:srgbClr val="2E8B6F"/>
      </a:hlink>
      <a:folHlink>
        <a:srgbClr val="5E6E73"/>
      </a:folHlink>
    </a:clrScheme>
    <a:fontScheme name="Lakehouse Sla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Databricks SQL analytics: DataMart retail sales</dc:title>
  <dc:subject>PptxGenJS Presentation</dc:subject>
  <dc:creator>Parth Dhawan</dc:creator>
  <cp:lastModifiedBy>Parth Dhawan</cp:lastModifiedBy>
  <cp:revision>1</cp:revision>
  <dcterms:created xsi:type="dcterms:W3CDTF">2026-10-25T08:40:46Z</dcterms:created>
  <dcterms:modified xsi:type="dcterms:W3CDTF">2026-10-25T08:40:46Z</dcterms:modified>
</cp:coreProperties>
</file>